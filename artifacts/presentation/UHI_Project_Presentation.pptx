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UHI is built for municipal planners, ward representatives and project reviewers. Its five workspaces answer where heat is concentrated, what to change, what a scenario could do, whether development adds heat, and how reliable the evidence is. The wider study grid contains 54,168 cells. The 74 named wards are Kochi municipality, with 8,063 cells inside the municipal boundaries according to PLAN.md. Do not confuse municipal ward coverage with wider-grid optimization totals. Satellite values are land-surface temperature at approximately 10:30 AM during January–April, not the temperature people feel. Screenshot is from the local project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are aligned to 100 m cells. The model includes per-scene atmospheric variables and a sunlight–albedo energy feature, with monotonic constraints. The CV artifact contains 250,000 scene-panel rows and 23 scenes. Analog interventions transition toward k=20 similar local cells, clip inputs to observed support and constrain changes toward cooling. Roof and pavement formulas are labelled separately and receive no neighbourhood spillover credit. The optimizer seeks total person-degrees of cooling per rupee, rather than simply the highest headcount. The dashboard reads committed frozen artifacts; moving a UI slider is a sensitivity preview, not a fresh full model training run. This distinction keeps the app responsive and its claims accurate.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dashboard has Heat overview, Cooling plan, Simulation, Project check and Evidence workspaces. Within Simulation, the six sections are Interventions, Budgets, Development, Ward lab, Evidence and 3D Preview. The latest optional 3D scene is a lightweight browser canvas that changes roofs, planting or water features according to the selected measure. Start simulation triggers the transition; later choices refresh it. Before/after, replay, a transition slider and drag rotation support demonstration. Geometry is schematic, not a surveyed digital twin; animation is not a forecast of time to maturity. Ward treatment numbers come from selected sites in the saved ₹50 crore plan where available; otherwise the study-wide median is labelled. Weather and treatment estimates are presented separately. Malayalam is standard written Malayalam.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a scenario estimate. The exact saved plan spend is ₹99,829,849.87, with 186,257.63 estimated people cooled by at least 0.1°C, mean cooling −1.20346°C and 228,650.34 person·°C. Person·°C weights cooling by the exposed population; it is not a count of unique interventions or a monetary benefit. The trees-everywhere baseline yields 44,297.60 person·°C and spread-evenly yields 7,108.48 at roughly the same budget. At ₹50 crore, trees everywhere reaches more people, while UHI has greater total person·°C benefit, so do not claim UHI maximizes every metric. The five mangrove sites have low analog support, which the UI flags. Physics-informed spatial R² is 0.82854 and RMSE 1.4032°C. Unconstrained XGBoost reaches R² 0.83911 and RMSE 1.35926°C: physics constraints are not claimed to improve raw accuracy. Historical back-testing is exploratory and does not establish intervention causality.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deployed application can read committed data/app artifacts without Earth Engine at runtime. Rebuilding the real-data pipeline requires Earth Engine and source exports. The current manifest labels the source frozen and carries a build timestamp of 26 September 2026 at 02:11 IST. ECOSTRESS, CPCB and matched validation outputs are not present in this build and should never be presented as completed validation. Optional resident-reaction artifacts are also absent; SOLWEIG and InVEST are future work. Canal geometry is unverified OSM candidate data, not an official IURWTS alignment, and canals receive zero cooling credit. Before practical implementation, planners need site verification, permissions, locally checked costs, maintenance plans and field measurement. Suggested closing: UHI turns a heat map into an auditable conversation about where to act, what it may cost, what benefit is estimated and what remains uncertain.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C0B"/>
        </a:solidFill>
        <a:effectLst/>
      </p:bgPr>
    </p:bg>
    <p:spTree>
      <p:nvGrpSpPr>
        <p:cNvPr id="1" name=""/>
        <p:cNvGrpSpPr/>
        <p:nvPr/>
      </p:nvGrpSpPr>
      <p:grpSpPr/>
      <p:sp>
        <p:nvSpPr>
          <p:cNvPr id="2" name="Rectangle 1"/>
          <p:cNvSpPr/>
          <p:nvPr/>
        </p:nvSpPr>
        <p:spPr>
          <a:xfrm>
            <a:off x="438912" y="347472"/>
            <a:ext cx="438912" cy="41148"/>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56032"/>
            <a:ext cx="10698480" cy="256032"/>
          </a:xfrm>
          <a:prstGeom prst="rect">
            <a:avLst/>
          </a:prstGeom>
          <a:noFill/>
        </p:spPr>
        <p:txBody>
          <a:bodyPr wrap="square" lIns="0" rIns="0" tIns="0" bIns="0">
            <a:spAutoFit/>
          </a:bodyPr>
          <a:lstStyle/>
          <a:p>
            <a:pPr>
              <a:spcAft>
                <a:spcPts val="600"/>
              </a:spcAft>
              <a:defRPr sz="1100" b="1">
                <a:solidFill>
                  <a:srgbClr val="FF852F"/>
                </a:solidFill>
                <a:latin typeface="Consolas"/>
              </a:defRPr>
            </a:pPr>
            <a:r>
              <a:t>HACKME’26 / AI–ML / KOCHI</a:t>
            </a:r>
          </a:p>
        </p:txBody>
      </p:sp>
      <p:sp>
        <p:nvSpPr>
          <p:cNvPr id="4" name="TextBox 3"/>
          <p:cNvSpPr txBox="1"/>
          <p:nvPr/>
        </p:nvSpPr>
        <p:spPr>
          <a:xfrm>
            <a:off x="457200" y="749808"/>
            <a:ext cx="11247120" cy="603504"/>
          </a:xfrm>
          <a:prstGeom prst="rect">
            <a:avLst/>
          </a:prstGeom>
          <a:noFill/>
        </p:spPr>
        <p:txBody>
          <a:bodyPr wrap="square" lIns="0" rIns="0" tIns="0" bIns="0">
            <a:spAutoFit/>
          </a:bodyPr>
          <a:lstStyle/>
          <a:p>
            <a:pPr>
              <a:spcAft>
                <a:spcPts val="600"/>
              </a:spcAft>
              <a:defRPr sz="3200" b="1">
                <a:solidFill>
                  <a:srgbClr val="F3F1E9"/>
                </a:solidFill>
                <a:latin typeface="Calibri"/>
              </a:defRPr>
            </a:pPr>
            <a:r>
              <a:t>UHI: Urban Heat Intelligence</a:t>
            </a:r>
          </a:p>
        </p:txBody>
      </p:sp>
      <p:sp>
        <p:nvSpPr>
          <p:cNvPr id="5" name="TextBox 4"/>
          <p:cNvSpPr txBox="1"/>
          <p:nvPr/>
        </p:nvSpPr>
        <p:spPr>
          <a:xfrm>
            <a:off x="475488" y="1435608"/>
            <a:ext cx="11064240" cy="493776"/>
          </a:xfrm>
          <a:prstGeom prst="rect">
            <a:avLst/>
          </a:prstGeom>
          <a:noFill/>
        </p:spPr>
        <p:txBody>
          <a:bodyPr wrap="square" lIns="0" rIns="0" tIns="0" bIns="0">
            <a:spAutoFit/>
          </a:bodyPr>
          <a:lstStyle/>
          <a:p>
            <a:pPr>
              <a:spcAft>
                <a:spcPts val="600"/>
              </a:spcAft>
              <a:defRPr sz="1500" b="0">
                <a:solidFill>
                  <a:srgbClr val="AABAB1"/>
                </a:solidFill>
                <a:latin typeface="Calibri"/>
              </a:defRPr>
            </a:pPr>
            <a:r>
              <a:t>A decision-support dashboard that connects urban heat mapping to practical cooling decisions.</a:t>
            </a:r>
          </a:p>
        </p:txBody>
      </p:sp>
      <p:sp>
        <p:nvSpPr>
          <p:cNvPr id="6" name="Rectangle 5"/>
          <p:cNvSpPr/>
          <p:nvPr/>
        </p:nvSpPr>
        <p:spPr>
          <a:xfrm>
            <a:off x="457200" y="6400800"/>
            <a:ext cx="11274552" cy="10972"/>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10515600" cy="210312"/>
          </a:xfrm>
          <a:prstGeom prst="rect">
            <a:avLst/>
          </a:prstGeom>
          <a:noFill/>
        </p:spPr>
        <p:txBody>
          <a:bodyPr wrap="square" lIns="0" rIns="0" tIns="0" bIns="0">
            <a:spAutoFit/>
          </a:bodyPr>
          <a:lstStyle/>
          <a:p>
            <a:pPr>
              <a:spcAft>
                <a:spcPts val="600"/>
              </a:spcAft>
              <a:defRPr sz="900" b="0">
                <a:solidFill>
                  <a:srgbClr val="AABAB1"/>
                </a:solidFill>
                <a:latin typeface="Calibri"/>
              </a:defRPr>
            </a:pPr>
            <a:r>
              <a:t>Sources: README.md; PLAN.md; data/app/manifest.json; saved dashboard build.</a:t>
            </a:r>
          </a:p>
        </p:txBody>
      </p:sp>
      <p:sp>
        <p:nvSpPr>
          <p:cNvPr id="8" name="TextBox 7"/>
          <p:cNvSpPr txBox="1"/>
          <p:nvPr/>
        </p:nvSpPr>
        <p:spPr>
          <a:xfrm>
            <a:off x="11091672" y="6492240"/>
            <a:ext cx="640080" cy="237744"/>
          </a:xfrm>
          <a:prstGeom prst="rect">
            <a:avLst/>
          </a:prstGeom>
          <a:noFill/>
        </p:spPr>
        <p:txBody>
          <a:bodyPr wrap="square" lIns="0" rIns="0" tIns="0" bIns="0">
            <a:spAutoFit/>
          </a:bodyPr>
          <a:lstStyle/>
          <a:p>
            <a:pPr>
              <a:spcAft>
                <a:spcPts val="600"/>
              </a:spcAft>
              <a:defRPr sz="1000" b="0">
                <a:solidFill>
                  <a:srgbClr val="78D8B4"/>
                </a:solidFill>
                <a:latin typeface="Consolas"/>
              </a:defRPr>
            </a:pPr>
            <a:r>
              <a:t>01 / 05</a:t>
            </a:r>
          </a:p>
        </p:txBody>
      </p:sp>
      <p:sp>
        <p:nvSpPr>
          <p:cNvPr id="9" name="TextBox 8"/>
          <p:cNvSpPr txBox="1"/>
          <p:nvPr/>
        </p:nvSpPr>
        <p:spPr>
          <a:xfrm>
            <a:off x="502920" y="2057400"/>
            <a:ext cx="3977639"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THE PROBLEM</a:t>
            </a:r>
          </a:p>
        </p:txBody>
      </p:sp>
      <p:sp>
        <p:nvSpPr>
          <p:cNvPr id="10" name="TextBox 9"/>
          <p:cNvSpPr txBox="1"/>
          <p:nvPr/>
        </p:nvSpPr>
        <p:spPr>
          <a:xfrm>
            <a:off x="502920" y="2450592"/>
            <a:ext cx="3977639" cy="1097280"/>
          </a:xfrm>
          <a:prstGeom prst="rect">
            <a:avLst/>
          </a:prstGeom>
          <a:noFill/>
        </p:spPr>
        <p:txBody>
          <a:bodyPr wrap="square" lIns="0" rIns="0" tIns="0" bIns="0">
            <a:spAutoFit/>
          </a:bodyPr>
          <a:lstStyle/>
          <a:p>
            <a:pPr>
              <a:spcAft>
                <a:spcPts val="600"/>
              </a:spcAft>
              <a:defRPr sz="1900" b="0">
                <a:solidFill>
                  <a:srgbClr val="F3F1E9"/>
                </a:solidFill>
                <a:latin typeface="Calibri"/>
              </a:defRPr>
            </a:pPr>
            <a:r>
              <a:t>Heat is uneven across the city. Planners need to know which places and people face exposure, where money can help, and whether new development adds heat.</a:t>
            </a:r>
          </a:p>
        </p:txBody>
      </p:sp>
      <p:sp>
        <p:nvSpPr>
          <p:cNvPr id="11" name="TextBox 10"/>
          <p:cNvSpPr txBox="1"/>
          <p:nvPr/>
        </p:nvSpPr>
        <p:spPr>
          <a:xfrm>
            <a:off x="502920" y="4187952"/>
            <a:ext cx="3977639"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THE PROJECT’S ANSWER</a:t>
            </a:r>
          </a:p>
        </p:txBody>
      </p:sp>
      <p:sp>
        <p:nvSpPr>
          <p:cNvPr id="12" name="TextBox 11"/>
          <p:cNvSpPr txBox="1"/>
          <p:nvPr/>
        </p:nvSpPr>
        <p:spPr>
          <a:xfrm>
            <a:off x="502920" y="4581144"/>
            <a:ext cx="3977639" cy="1097280"/>
          </a:xfrm>
          <a:prstGeom prst="rect">
            <a:avLst/>
          </a:prstGeom>
          <a:noFill/>
        </p:spPr>
        <p:txBody>
          <a:bodyPr wrap="square" lIns="0" rIns="0" tIns="0" bIns="0">
            <a:spAutoFit/>
          </a:bodyPr>
          <a:lstStyle/>
          <a:p>
            <a:pPr>
              <a:spcAft>
                <a:spcPts val="600"/>
              </a:spcAft>
              <a:defRPr sz="1900" b="0">
                <a:solidFill>
                  <a:srgbClr val="F3F1E9"/>
                </a:solidFill>
                <a:latin typeface="Calibri"/>
              </a:defRPr>
            </a:pPr>
            <a:r>
              <a:t>Locate hotspots → explain drivers → compare interventions → allocate budgets → screen development. Make the evidence visible at every step.</a:t>
            </a:r>
          </a:p>
        </p:txBody>
      </p:sp>
      <p:pic>
        <p:nvPicPr>
          <p:cNvPr id="13" name="Picture 12" descr="dashboard_desktop.png"/>
          <p:cNvPicPr>
            <a:picLocks noChangeAspect="1"/>
          </p:cNvPicPr>
          <p:nvPr/>
        </p:nvPicPr>
        <p:blipFill>
          <a:blip r:embed="rId2"/>
          <a:stretch>
            <a:fillRect/>
          </a:stretch>
        </p:blipFill>
        <p:spPr>
          <a:xfrm>
            <a:off x="5238597" y="2011680"/>
            <a:ext cx="6027724" cy="3767328"/>
          </a:xfrm>
          <a:prstGeom prst="rect">
            <a:avLst/>
          </a:prstGeom>
        </p:spPr>
      </p:pic>
      <p:sp>
        <p:nvSpPr>
          <p:cNvPr id="14" name="TextBox 13"/>
          <p:cNvSpPr txBox="1"/>
          <p:nvPr/>
        </p:nvSpPr>
        <p:spPr>
          <a:xfrm>
            <a:off x="4846320" y="5833872"/>
            <a:ext cx="6675120" cy="320040"/>
          </a:xfrm>
          <a:prstGeom prst="rect">
            <a:avLst/>
          </a:prstGeom>
          <a:noFill/>
        </p:spPr>
        <p:txBody>
          <a:bodyPr wrap="square" lIns="0" rIns="0" tIns="0" bIns="0">
            <a:spAutoFit/>
          </a:bodyPr>
          <a:lstStyle/>
          <a:p>
            <a:pPr>
              <a:spcAft>
                <a:spcPts val="600"/>
              </a:spcAft>
              <a:defRPr sz="1300" b="0">
                <a:solidFill>
                  <a:srgbClr val="78D8B4"/>
                </a:solidFill>
                <a:latin typeface="Consolas"/>
              </a:defRPr>
            </a:pPr>
            <a:r>
              <a:t>74 named wards  /  54,168 study cells  /  23 satellite scenes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C0B"/>
        </a:solidFill>
        <a:effectLst/>
      </p:bgPr>
    </p:bg>
    <p:spTree>
      <p:nvGrpSpPr>
        <p:cNvPr id="1" name=""/>
        <p:cNvGrpSpPr/>
        <p:nvPr/>
      </p:nvGrpSpPr>
      <p:grpSpPr/>
      <p:sp>
        <p:nvSpPr>
          <p:cNvPr id="2" name="Rectangle 1"/>
          <p:cNvSpPr/>
          <p:nvPr/>
        </p:nvSpPr>
        <p:spPr>
          <a:xfrm>
            <a:off x="438912" y="347472"/>
            <a:ext cx="438912" cy="41148"/>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56032"/>
            <a:ext cx="10698480" cy="256032"/>
          </a:xfrm>
          <a:prstGeom prst="rect">
            <a:avLst/>
          </a:prstGeom>
          <a:noFill/>
        </p:spPr>
        <p:txBody>
          <a:bodyPr wrap="square" lIns="0" rIns="0" tIns="0" bIns="0">
            <a:spAutoFit/>
          </a:bodyPr>
          <a:lstStyle/>
          <a:p>
            <a:pPr>
              <a:spcAft>
                <a:spcPts val="600"/>
              </a:spcAft>
              <a:defRPr sz="1100" b="1">
                <a:solidFill>
                  <a:srgbClr val="FF852F"/>
                </a:solidFill>
                <a:latin typeface="Consolas"/>
              </a:defRPr>
            </a:pPr>
            <a:r>
              <a:t>DATA / MODELS / DECISIONS</a:t>
            </a:r>
          </a:p>
        </p:txBody>
      </p:sp>
      <p:sp>
        <p:nvSpPr>
          <p:cNvPr id="4" name="TextBox 3"/>
          <p:cNvSpPr txBox="1"/>
          <p:nvPr/>
        </p:nvSpPr>
        <p:spPr>
          <a:xfrm>
            <a:off x="457200" y="749808"/>
            <a:ext cx="11247120" cy="603504"/>
          </a:xfrm>
          <a:prstGeom prst="rect">
            <a:avLst/>
          </a:prstGeom>
          <a:noFill/>
        </p:spPr>
        <p:txBody>
          <a:bodyPr wrap="square" lIns="0" rIns="0" tIns="0" bIns="0">
            <a:spAutoFit/>
          </a:bodyPr>
          <a:lstStyle/>
          <a:p>
            <a:pPr>
              <a:spcAft>
                <a:spcPts val="600"/>
              </a:spcAft>
              <a:defRPr sz="3200" b="1">
                <a:solidFill>
                  <a:srgbClr val="F3F1E9"/>
                </a:solidFill>
                <a:latin typeface="Calibri"/>
              </a:defRPr>
            </a:pPr>
            <a:r>
              <a:t>From satellite observations to an action plan</a:t>
            </a:r>
          </a:p>
        </p:txBody>
      </p:sp>
      <p:sp>
        <p:nvSpPr>
          <p:cNvPr id="5" name="TextBox 4"/>
          <p:cNvSpPr txBox="1"/>
          <p:nvPr/>
        </p:nvSpPr>
        <p:spPr>
          <a:xfrm>
            <a:off x="475488" y="1435608"/>
            <a:ext cx="11064240" cy="493776"/>
          </a:xfrm>
          <a:prstGeom prst="rect">
            <a:avLst/>
          </a:prstGeom>
          <a:noFill/>
        </p:spPr>
        <p:txBody>
          <a:bodyPr wrap="square" lIns="0" rIns="0" tIns="0" bIns="0">
            <a:spAutoFit/>
          </a:bodyPr>
          <a:lstStyle/>
          <a:p>
            <a:pPr>
              <a:spcAft>
                <a:spcPts val="600"/>
              </a:spcAft>
              <a:defRPr sz="1500" b="0">
                <a:solidFill>
                  <a:srgbClr val="AABAB1"/>
                </a:solidFill>
                <a:latin typeface="Calibri"/>
              </a:defRPr>
            </a:pPr>
            <a:r>
              <a:t>A 100 m analytical grid combines surface conditions, weather, population and the built environment.</a:t>
            </a:r>
          </a:p>
        </p:txBody>
      </p:sp>
      <p:sp>
        <p:nvSpPr>
          <p:cNvPr id="6" name="Rectangle 5"/>
          <p:cNvSpPr/>
          <p:nvPr/>
        </p:nvSpPr>
        <p:spPr>
          <a:xfrm>
            <a:off x="457200" y="6400800"/>
            <a:ext cx="11274552" cy="10972"/>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10515600" cy="210312"/>
          </a:xfrm>
          <a:prstGeom prst="rect">
            <a:avLst/>
          </a:prstGeom>
          <a:noFill/>
        </p:spPr>
        <p:txBody>
          <a:bodyPr wrap="square" lIns="0" rIns="0" tIns="0" bIns="0">
            <a:spAutoFit/>
          </a:bodyPr>
          <a:lstStyle/>
          <a:p>
            <a:pPr>
              <a:spcAft>
                <a:spcPts val="600"/>
              </a:spcAft>
              <a:defRPr sz="900" b="0">
                <a:solidFill>
                  <a:srgbClr val="AABAB1"/>
                </a:solidFill>
                <a:latin typeface="Calibri"/>
              </a:defRPr>
            </a:pPr>
            <a:r>
              <a:t>Sources: README.md; src/uhi/model.py, scenarios.py, optimize.py; data/app/metrics.json.</a:t>
            </a:r>
          </a:p>
        </p:txBody>
      </p:sp>
      <p:sp>
        <p:nvSpPr>
          <p:cNvPr id="8" name="TextBox 7"/>
          <p:cNvSpPr txBox="1"/>
          <p:nvPr/>
        </p:nvSpPr>
        <p:spPr>
          <a:xfrm>
            <a:off x="11091672" y="6492240"/>
            <a:ext cx="640080" cy="237744"/>
          </a:xfrm>
          <a:prstGeom prst="rect">
            <a:avLst/>
          </a:prstGeom>
          <a:noFill/>
        </p:spPr>
        <p:txBody>
          <a:bodyPr wrap="square" lIns="0" rIns="0" tIns="0" bIns="0">
            <a:spAutoFit/>
          </a:bodyPr>
          <a:lstStyle/>
          <a:p>
            <a:pPr>
              <a:spcAft>
                <a:spcPts val="600"/>
              </a:spcAft>
              <a:defRPr sz="1000" b="0">
                <a:solidFill>
                  <a:srgbClr val="78D8B4"/>
                </a:solidFill>
                <a:latin typeface="Consolas"/>
              </a:defRPr>
            </a:pPr>
            <a:r>
              <a:t>02 / 05</a:t>
            </a:r>
          </a:p>
        </p:txBody>
      </p:sp>
      <p:sp>
        <p:nvSpPr>
          <p:cNvPr id="9" name="Rectangle 8"/>
          <p:cNvSpPr/>
          <p:nvPr/>
        </p:nvSpPr>
        <p:spPr>
          <a:xfrm>
            <a:off x="502920" y="2148840"/>
            <a:ext cx="2487168" cy="22860"/>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331720"/>
            <a:ext cx="2560320" cy="338328"/>
          </a:xfrm>
          <a:prstGeom prst="rect">
            <a:avLst/>
          </a:prstGeom>
          <a:noFill/>
        </p:spPr>
        <p:txBody>
          <a:bodyPr wrap="square" lIns="0" rIns="0" tIns="0" bIns="0">
            <a:spAutoFit/>
          </a:bodyPr>
          <a:lstStyle/>
          <a:p>
            <a:pPr>
              <a:spcAft>
                <a:spcPts val="600"/>
              </a:spcAft>
              <a:defRPr sz="1600" b="1">
                <a:solidFill>
                  <a:srgbClr val="78D8B4"/>
                </a:solidFill>
                <a:latin typeface="Consolas"/>
              </a:defRPr>
            </a:pPr>
            <a:r>
              <a:t>01  OBSERVE</a:t>
            </a:r>
          </a:p>
        </p:txBody>
      </p:sp>
      <p:sp>
        <p:nvSpPr>
          <p:cNvPr id="11" name="TextBox 10"/>
          <p:cNvSpPr txBox="1"/>
          <p:nvPr/>
        </p:nvSpPr>
        <p:spPr>
          <a:xfrm>
            <a:off x="502920" y="2862072"/>
            <a:ext cx="2514600" cy="1600200"/>
          </a:xfrm>
          <a:prstGeom prst="rect">
            <a:avLst/>
          </a:prstGeom>
          <a:noFill/>
        </p:spPr>
        <p:txBody>
          <a:bodyPr wrap="square" lIns="0" rIns="0" tIns="0" bIns="0">
            <a:spAutoFit/>
          </a:bodyPr>
          <a:lstStyle/>
          <a:p>
            <a:pPr>
              <a:spcAft>
                <a:spcPts val="600"/>
              </a:spcAft>
              <a:defRPr sz="1600" b="0">
                <a:solidFill>
                  <a:srgbClr val="F3F1E9"/>
                </a:solidFill>
                <a:latin typeface="Calibri"/>
              </a:defRPr>
            </a:pPr>
            <a:r>
              <a:t>Landsat 8/9 surface heat</a:t>
            </a:r>
          </a:p>
          <a:p>
            <a:pPr>
              <a:spcAft>
                <a:spcPts val="600"/>
              </a:spcAft>
              <a:defRPr sz="1600" b="0">
                <a:solidFill>
                  <a:srgbClr val="F3F1E9"/>
                </a:solidFill>
                <a:latin typeface="Calibri"/>
              </a:defRPr>
            </a:pPr>
            <a:r>
              <a:t>Sentinel-2 + land cover</a:t>
            </a:r>
          </a:p>
          <a:p>
            <a:pPr>
              <a:spcAft>
                <a:spcPts val="600"/>
              </a:spcAft>
              <a:defRPr sz="1600" b="0">
                <a:solidFill>
                  <a:srgbClr val="F3F1E9"/>
                </a:solidFill>
                <a:latin typeface="Calibri"/>
              </a:defRPr>
            </a:pPr>
            <a:r>
              <a:t>ERA5-Land atmosphere</a:t>
            </a:r>
          </a:p>
          <a:p>
            <a:pPr>
              <a:spcAft>
                <a:spcPts val="600"/>
              </a:spcAft>
              <a:defRPr sz="1600" b="0">
                <a:solidFill>
                  <a:srgbClr val="F3F1E9"/>
                </a:solidFill>
                <a:latin typeface="Calibri"/>
              </a:defRPr>
            </a:pPr>
            <a:r>
              <a:t>GHSL population + OSM</a:t>
            </a:r>
          </a:p>
        </p:txBody>
      </p:sp>
      <p:sp>
        <p:nvSpPr>
          <p:cNvPr id="12" name="Rectangle 11"/>
          <p:cNvSpPr/>
          <p:nvPr/>
        </p:nvSpPr>
        <p:spPr>
          <a:xfrm>
            <a:off x="3429000" y="2148840"/>
            <a:ext cx="2487168" cy="22860"/>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2331720"/>
            <a:ext cx="2560320" cy="338328"/>
          </a:xfrm>
          <a:prstGeom prst="rect">
            <a:avLst/>
          </a:prstGeom>
          <a:noFill/>
        </p:spPr>
        <p:txBody>
          <a:bodyPr wrap="square" lIns="0" rIns="0" tIns="0" bIns="0">
            <a:spAutoFit/>
          </a:bodyPr>
          <a:lstStyle/>
          <a:p>
            <a:pPr>
              <a:spcAft>
                <a:spcPts val="600"/>
              </a:spcAft>
              <a:defRPr sz="1600" b="1">
                <a:solidFill>
                  <a:srgbClr val="78D8B4"/>
                </a:solidFill>
                <a:latin typeface="Consolas"/>
              </a:defRPr>
            </a:pPr>
            <a:r>
              <a:t>02  EXPLAIN</a:t>
            </a:r>
          </a:p>
        </p:txBody>
      </p:sp>
      <p:sp>
        <p:nvSpPr>
          <p:cNvPr id="14" name="TextBox 13"/>
          <p:cNvSpPr txBox="1"/>
          <p:nvPr/>
        </p:nvSpPr>
        <p:spPr>
          <a:xfrm>
            <a:off x="3429000" y="2862072"/>
            <a:ext cx="2514600" cy="1600200"/>
          </a:xfrm>
          <a:prstGeom prst="rect">
            <a:avLst/>
          </a:prstGeom>
          <a:noFill/>
        </p:spPr>
        <p:txBody>
          <a:bodyPr wrap="square" lIns="0" rIns="0" tIns="0" bIns="0">
            <a:spAutoFit/>
          </a:bodyPr>
          <a:lstStyle/>
          <a:p>
            <a:pPr>
              <a:spcAft>
                <a:spcPts val="600"/>
              </a:spcAft>
              <a:defRPr sz="1600" b="0">
                <a:solidFill>
                  <a:srgbClr val="F3F1E9"/>
                </a:solidFill>
                <a:latin typeface="Calibri"/>
              </a:defRPr>
            </a:pPr>
            <a:r>
              <a:t>Scene-panel XGBoost</a:t>
            </a:r>
          </a:p>
          <a:p>
            <a:pPr>
              <a:spcAft>
                <a:spcPts val="600"/>
              </a:spcAft>
              <a:defRPr sz="1600" b="0">
                <a:solidFill>
                  <a:srgbClr val="F3F1E9"/>
                </a:solidFill>
                <a:latin typeface="Calibri"/>
              </a:defRPr>
            </a:pPr>
            <a:r>
              <a:t>Physics-informed constraints</a:t>
            </a:r>
          </a:p>
          <a:p>
            <a:pPr>
              <a:spcAft>
                <a:spcPts val="600"/>
              </a:spcAft>
              <a:defRPr sz="1600" b="0">
                <a:solidFill>
                  <a:srgbClr val="F3F1E9"/>
                </a:solidFill>
                <a:latin typeface="Calibri"/>
              </a:defRPr>
            </a:pPr>
            <a:r>
              <a:t>(1 − albedo) × sunlight</a:t>
            </a:r>
          </a:p>
          <a:p>
            <a:pPr>
              <a:spcAft>
                <a:spcPts val="600"/>
              </a:spcAft>
              <a:defRPr sz="1600" b="0">
                <a:solidFill>
                  <a:srgbClr val="F3F1E9"/>
                </a:solidFill>
                <a:latin typeface="Calibri"/>
              </a:defRPr>
            </a:pPr>
            <a:r>
              <a:t>TreeSHAP heat drivers</a:t>
            </a:r>
          </a:p>
        </p:txBody>
      </p:sp>
      <p:sp>
        <p:nvSpPr>
          <p:cNvPr id="15" name="Rectangle 14"/>
          <p:cNvSpPr/>
          <p:nvPr/>
        </p:nvSpPr>
        <p:spPr>
          <a:xfrm>
            <a:off x="6355080" y="2148840"/>
            <a:ext cx="2487168" cy="22860"/>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331720"/>
            <a:ext cx="2560320" cy="338328"/>
          </a:xfrm>
          <a:prstGeom prst="rect">
            <a:avLst/>
          </a:prstGeom>
          <a:noFill/>
        </p:spPr>
        <p:txBody>
          <a:bodyPr wrap="square" lIns="0" rIns="0" tIns="0" bIns="0">
            <a:spAutoFit/>
          </a:bodyPr>
          <a:lstStyle/>
          <a:p>
            <a:pPr>
              <a:spcAft>
                <a:spcPts val="600"/>
              </a:spcAft>
              <a:defRPr sz="1600" b="1">
                <a:solidFill>
                  <a:srgbClr val="78D8B4"/>
                </a:solidFill>
                <a:latin typeface="Consolas"/>
              </a:defRPr>
            </a:pPr>
            <a:r>
              <a:t>03  SIMULATE</a:t>
            </a:r>
          </a:p>
        </p:txBody>
      </p:sp>
      <p:sp>
        <p:nvSpPr>
          <p:cNvPr id="17" name="TextBox 16"/>
          <p:cNvSpPr txBox="1"/>
          <p:nvPr/>
        </p:nvSpPr>
        <p:spPr>
          <a:xfrm>
            <a:off x="6355080" y="2862072"/>
            <a:ext cx="2514600" cy="1600200"/>
          </a:xfrm>
          <a:prstGeom prst="rect">
            <a:avLst/>
          </a:prstGeom>
          <a:noFill/>
        </p:spPr>
        <p:txBody>
          <a:bodyPr wrap="square" lIns="0" rIns="0" tIns="0" bIns="0">
            <a:spAutoFit/>
          </a:bodyPr>
          <a:lstStyle/>
          <a:p>
            <a:pPr>
              <a:spcAft>
                <a:spcPts val="600"/>
              </a:spcAft>
              <a:defRPr sz="1600" b="0">
                <a:solidFill>
                  <a:srgbClr val="F3F1E9"/>
                </a:solidFill>
                <a:latin typeface="Calibri"/>
              </a:defRPr>
            </a:pPr>
            <a:r>
              <a:t>20-neighbour local analogs</a:t>
            </a:r>
          </a:p>
          <a:p>
            <a:pPr>
              <a:spcAft>
                <a:spcPts val="600"/>
              </a:spcAft>
              <a:defRPr sz="1600" b="0">
                <a:solidFill>
                  <a:srgbClr val="F3F1E9"/>
                </a:solidFill>
                <a:latin typeface="Calibri"/>
              </a:defRPr>
            </a:pPr>
            <a:r>
              <a:t>Labelled roof/pavement formulas</a:t>
            </a:r>
          </a:p>
          <a:p>
            <a:pPr>
              <a:spcAft>
                <a:spcPts val="600"/>
              </a:spcAft>
              <a:defRPr sz="1600" b="0">
                <a:solidFill>
                  <a:srgbClr val="F3F1E9"/>
                </a:solidFill>
                <a:latin typeface="Calibri"/>
              </a:defRPr>
            </a:pPr>
            <a:r>
              <a:t>Joint scenarios + spillover</a:t>
            </a:r>
          </a:p>
          <a:p>
            <a:pPr>
              <a:spcAft>
                <a:spcPts val="600"/>
              </a:spcAft>
              <a:defRPr sz="1600" b="0">
                <a:solidFill>
                  <a:srgbClr val="F3F1E9"/>
                </a:solidFill>
                <a:latin typeface="Calibri"/>
              </a:defRPr>
            </a:pPr>
            <a:r>
              <a:t>Support checks and clipping</a:t>
            </a:r>
          </a:p>
        </p:txBody>
      </p:sp>
      <p:sp>
        <p:nvSpPr>
          <p:cNvPr id="18" name="Rectangle 17"/>
          <p:cNvSpPr/>
          <p:nvPr/>
        </p:nvSpPr>
        <p:spPr>
          <a:xfrm>
            <a:off x="9189720" y="2148840"/>
            <a:ext cx="2487168" cy="22860"/>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2331720"/>
            <a:ext cx="2560320" cy="338328"/>
          </a:xfrm>
          <a:prstGeom prst="rect">
            <a:avLst/>
          </a:prstGeom>
          <a:noFill/>
        </p:spPr>
        <p:txBody>
          <a:bodyPr wrap="square" lIns="0" rIns="0" tIns="0" bIns="0">
            <a:spAutoFit/>
          </a:bodyPr>
          <a:lstStyle/>
          <a:p>
            <a:pPr>
              <a:spcAft>
                <a:spcPts val="600"/>
              </a:spcAft>
              <a:defRPr sz="1600" b="1">
                <a:solidFill>
                  <a:srgbClr val="78D8B4"/>
                </a:solidFill>
                <a:latin typeface="Consolas"/>
              </a:defRPr>
            </a:pPr>
            <a:r>
              <a:t>04  PRIORITISE</a:t>
            </a:r>
          </a:p>
        </p:txBody>
      </p:sp>
      <p:sp>
        <p:nvSpPr>
          <p:cNvPr id="20" name="TextBox 19"/>
          <p:cNvSpPr txBox="1"/>
          <p:nvPr/>
        </p:nvSpPr>
        <p:spPr>
          <a:xfrm>
            <a:off x="9189720" y="2862072"/>
            <a:ext cx="2514600" cy="1600200"/>
          </a:xfrm>
          <a:prstGeom prst="rect">
            <a:avLst/>
          </a:prstGeom>
          <a:noFill/>
        </p:spPr>
        <p:txBody>
          <a:bodyPr wrap="square" lIns="0" rIns="0" tIns="0" bIns="0">
            <a:spAutoFit/>
          </a:bodyPr>
          <a:lstStyle/>
          <a:p>
            <a:pPr>
              <a:spcAft>
                <a:spcPts val="600"/>
              </a:spcAft>
              <a:defRPr sz="1600" b="0">
                <a:solidFill>
                  <a:srgbClr val="F3F1E9"/>
                </a:solidFill>
                <a:latin typeface="Calibri"/>
              </a:defRPr>
            </a:pPr>
            <a:r>
              <a:t>Person·°C benefit per rupee</a:t>
            </a:r>
          </a:p>
          <a:p>
            <a:pPr>
              <a:spcAft>
                <a:spcPts val="600"/>
              </a:spcAft>
              <a:defRPr sz="1600" b="0">
                <a:solidFill>
                  <a:srgbClr val="F3F1E9"/>
                </a:solidFill>
                <a:latin typeface="Calibri"/>
              </a:defRPr>
            </a:pPr>
            <a:r>
              <a:t>Eligible public-land actions</a:t>
            </a:r>
          </a:p>
          <a:p>
            <a:pPr>
              <a:spcAft>
                <a:spcPts val="600"/>
              </a:spcAft>
              <a:defRPr sz="1600" b="0">
                <a:solidFill>
                  <a:srgbClr val="F3F1E9"/>
                </a:solidFill>
                <a:latin typeface="Calibri"/>
              </a:defRPr>
            </a:pPr>
            <a:r>
              <a:t>₹1 / ₹10 / ₹50 crore plans</a:t>
            </a:r>
          </a:p>
          <a:p>
            <a:pPr>
              <a:spcAft>
                <a:spcPts val="600"/>
              </a:spcAft>
              <a:defRPr sz="1600" b="0">
                <a:solidFill>
                  <a:srgbClr val="F3F1E9"/>
                </a:solidFill>
                <a:latin typeface="Calibri"/>
              </a:defRPr>
            </a:pPr>
            <a:r>
              <a:t>Types, costs and locations</a:t>
            </a:r>
          </a:p>
        </p:txBody>
      </p:sp>
      <p:sp>
        <p:nvSpPr>
          <p:cNvPr id="21" name="Rectangle 20"/>
          <p:cNvSpPr/>
          <p:nvPr/>
        </p:nvSpPr>
        <p:spPr>
          <a:xfrm>
            <a:off x="502920" y="4800600"/>
            <a:ext cx="11183112" cy="12801"/>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5029200"/>
            <a:ext cx="521208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EXPOSURE SCREENING</a:t>
            </a:r>
          </a:p>
        </p:txBody>
      </p:sp>
      <p:sp>
        <p:nvSpPr>
          <p:cNvPr id="23" name="TextBox 22"/>
          <p:cNvSpPr txBox="1"/>
          <p:nvPr/>
        </p:nvSpPr>
        <p:spPr>
          <a:xfrm>
            <a:off x="502920" y="5422392"/>
            <a:ext cx="5212080" cy="1097280"/>
          </a:xfrm>
          <a:prstGeom prst="rect">
            <a:avLst/>
          </a:prstGeom>
          <a:noFill/>
        </p:spPr>
        <p:txBody>
          <a:bodyPr wrap="square" lIns="0" rIns="0" tIns="0" bIns="0">
            <a:spAutoFit/>
          </a:bodyPr>
          <a:lstStyle/>
          <a:p>
            <a:pPr>
              <a:spcAft>
                <a:spcPts val="600"/>
              </a:spcAft>
              <a:defRPr sz="1700" b="0">
                <a:solidFill>
                  <a:srgbClr val="F3F1E9"/>
                </a:solidFill>
                <a:latin typeface="Calibri"/>
              </a:defRPr>
            </a:pPr>
            <a:r>
              <a:t>Heat exposure combines surface-heat rank, weather-derived heat index and population; results roll up to wards.</a:t>
            </a:r>
          </a:p>
        </p:txBody>
      </p:sp>
      <p:sp>
        <p:nvSpPr>
          <p:cNvPr id="24" name="TextBox 23"/>
          <p:cNvSpPr txBox="1"/>
          <p:nvPr/>
        </p:nvSpPr>
        <p:spPr>
          <a:xfrm>
            <a:off x="6355080" y="5029200"/>
            <a:ext cx="530352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WHY PHYSICS + ML?</a:t>
            </a:r>
          </a:p>
        </p:txBody>
      </p:sp>
      <p:sp>
        <p:nvSpPr>
          <p:cNvPr id="25" name="TextBox 24"/>
          <p:cNvSpPr txBox="1"/>
          <p:nvPr/>
        </p:nvSpPr>
        <p:spPr>
          <a:xfrm>
            <a:off x="6355080" y="5422392"/>
            <a:ext cx="5303520" cy="1097280"/>
          </a:xfrm>
          <a:prstGeom prst="rect">
            <a:avLst/>
          </a:prstGeom>
          <a:noFill/>
        </p:spPr>
        <p:txBody>
          <a:bodyPr wrap="square" lIns="0" rIns="0" tIns="0" bIns="0">
            <a:spAutoFit/>
          </a:bodyPr>
          <a:lstStyle/>
          <a:p>
            <a:pPr>
              <a:spcAft>
                <a:spcPts val="600"/>
              </a:spcAft>
              <a:defRPr sz="1700" b="0">
                <a:solidFill>
                  <a:srgbClr val="F3F1E9"/>
                </a:solidFill>
                <a:latin typeface="Calibri"/>
              </a:defRPr>
            </a:pPr>
            <a:r>
              <a:t>ML captures local patterns; explicit formulas cover interventions with weak analog evidence. Spatial validation tests transfer across areas.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C0B"/>
        </a:solidFill>
        <a:effectLst/>
      </p:bgPr>
    </p:bg>
    <p:spTree>
      <p:nvGrpSpPr>
        <p:cNvPr id="1" name=""/>
        <p:cNvGrpSpPr/>
        <p:nvPr/>
      </p:nvGrpSpPr>
      <p:grpSpPr/>
      <p:sp>
        <p:nvSpPr>
          <p:cNvPr id="2" name="Rectangle 1"/>
          <p:cNvSpPr/>
          <p:nvPr/>
        </p:nvSpPr>
        <p:spPr>
          <a:xfrm>
            <a:off x="438912" y="347472"/>
            <a:ext cx="438912" cy="41148"/>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56032"/>
            <a:ext cx="10698480" cy="256032"/>
          </a:xfrm>
          <a:prstGeom prst="rect">
            <a:avLst/>
          </a:prstGeom>
          <a:noFill/>
        </p:spPr>
        <p:txBody>
          <a:bodyPr wrap="square" lIns="0" rIns="0" tIns="0" bIns="0">
            <a:spAutoFit/>
          </a:bodyPr>
          <a:lstStyle/>
          <a:p>
            <a:pPr>
              <a:spcAft>
                <a:spcPts val="600"/>
              </a:spcAft>
              <a:defRPr sz="1100" b="1">
                <a:solidFill>
                  <a:srgbClr val="FF852F"/>
                </a:solidFill>
                <a:latin typeface="Consolas"/>
              </a:defRPr>
            </a:pPr>
            <a:r>
              <a:t>PRODUCT / SIMULATIONS / LANGUAGE</a:t>
            </a:r>
          </a:p>
        </p:txBody>
      </p:sp>
      <p:sp>
        <p:nvSpPr>
          <p:cNvPr id="4" name="TextBox 3"/>
          <p:cNvSpPr txBox="1"/>
          <p:nvPr/>
        </p:nvSpPr>
        <p:spPr>
          <a:xfrm>
            <a:off x="457200" y="749808"/>
            <a:ext cx="11247120" cy="603504"/>
          </a:xfrm>
          <a:prstGeom prst="rect">
            <a:avLst/>
          </a:prstGeom>
          <a:noFill/>
        </p:spPr>
        <p:txBody>
          <a:bodyPr wrap="square" lIns="0" rIns="0" tIns="0" bIns="0">
            <a:spAutoFit/>
          </a:bodyPr>
          <a:lstStyle/>
          <a:p>
            <a:pPr>
              <a:spcAft>
                <a:spcPts val="600"/>
              </a:spcAft>
              <a:defRPr sz="3200" b="1">
                <a:solidFill>
                  <a:srgbClr val="F3F1E9"/>
                </a:solidFill>
                <a:latin typeface="Calibri"/>
              </a:defRPr>
            </a:pPr>
            <a:r>
              <a:t>One map. Six ways to explore a scenario.</a:t>
            </a:r>
          </a:p>
        </p:txBody>
      </p:sp>
      <p:sp>
        <p:nvSpPr>
          <p:cNvPr id="5" name="TextBox 4"/>
          <p:cNvSpPr txBox="1"/>
          <p:nvPr/>
        </p:nvSpPr>
        <p:spPr>
          <a:xfrm>
            <a:off x="475488" y="1435608"/>
            <a:ext cx="11064240" cy="493776"/>
          </a:xfrm>
          <a:prstGeom prst="rect">
            <a:avLst/>
          </a:prstGeom>
          <a:noFill/>
        </p:spPr>
        <p:txBody>
          <a:bodyPr wrap="square" lIns="0" rIns="0" tIns="0" bIns="0">
            <a:spAutoFit/>
          </a:bodyPr>
          <a:lstStyle/>
          <a:p>
            <a:pPr>
              <a:spcAft>
                <a:spcPts val="600"/>
              </a:spcAft>
              <a:defRPr sz="1500" b="0">
                <a:solidFill>
                  <a:srgbClr val="AABAB1"/>
                </a:solidFill>
                <a:latin typeface="Calibri"/>
              </a:defRPr>
            </a:pPr>
            <a:r>
              <a:t>A map-first dashboard with ward selection, English/Malayalam interfaces and downloadable scenario reports.</a:t>
            </a:r>
          </a:p>
        </p:txBody>
      </p:sp>
      <p:sp>
        <p:nvSpPr>
          <p:cNvPr id="6" name="Rectangle 5"/>
          <p:cNvSpPr/>
          <p:nvPr/>
        </p:nvSpPr>
        <p:spPr>
          <a:xfrm>
            <a:off x="457200" y="6400800"/>
            <a:ext cx="11274552" cy="10972"/>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10515600" cy="210312"/>
          </a:xfrm>
          <a:prstGeom prst="rect">
            <a:avLst/>
          </a:prstGeom>
          <a:noFill/>
        </p:spPr>
        <p:txBody>
          <a:bodyPr wrap="square" lIns="0" rIns="0" tIns="0" bIns="0">
            <a:spAutoFit/>
          </a:bodyPr>
          <a:lstStyle/>
          <a:p>
            <a:pPr>
              <a:spcAft>
                <a:spcPts val="600"/>
              </a:spcAft>
              <a:defRPr sz="900" b="0">
                <a:solidFill>
                  <a:srgbClr val="AABAB1"/>
                </a:solidFill>
                <a:latin typeface="Calibri"/>
              </a:defRPr>
            </a:pPr>
            <a:r>
              <a:t>Sources: src/uhi/simulation_ui.py; simulation_preview.py; SIMULATIONS.md; browser-tested local UI.</a:t>
            </a:r>
          </a:p>
        </p:txBody>
      </p:sp>
      <p:sp>
        <p:nvSpPr>
          <p:cNvPr id="8" name="TextBox 7"/>
          <p:cNvSpPr txBox="1"/>
          <p:nvPr/>
        </p:nvSpPr>
        <p:spPr>
          <a:xfrm>
            <a:off x="11091672" y="6492240"/>
            <a:ext cx="640080" cy="237744"/>
          </a:xfrm>
          <a:prstGeom prst="rect">
            <a:avLst/>
          </a:prstGeom>
          <a:noFill/>
        </p:spPr>
        <p:txBody>
          <a:bodyPr wrap="square" lIns="0" rIns="0" tIns="0" bIns="0">
            <a:spAutoFit/>
          </a:bodyPr>
          <a:lstStyle/>
          <a:p>
            <a:pPr>
              <a:spcAft>
                <a:spcPts val="600"/>
              </a:spcAft>
              <a:defRPr sz="1000" b="0">
                <a:solidFill>
                  <a:srgbClr val="78D8B4"/>
                </a:solidFill>
                <a:latin typeface="Consolas"/>
              </a:defRPr>
            </a:pPr>
            <a:r>
              <a:t>03 / 05</a:t>
            </a:r>
          </a:p>
        </p:txBody>
      </p:sp>
      <p:pic>
        <p:nvPicPr>
          <p:cNvPr id="9" name="Picture 8" descr="simulation_3d_desktop.png"/>
          <p:cNvPicPr>
            <a:picLocks noChangeAspect="1"/>
          </p:cNvPicPr>
          <p:nvPr/>
        </p:nvPicPr>
        <p:blipFill>
          <a:blip r:embed="rId2"/>
          <a:stretch>
            <a:fillRect/>
          </a:stretch>
        </p:blipFill>
        <p:spPr>
          <a:xfrm>
            <a:off x="457199" y="2020823"/>
            <a:ext cx="6583680" cy="4114800"/>
          </a:xfrm>
          <a:prstGeom prst="rect">
            <a:avLst/>
          </a:prstGeom>
        </p:spPr>
      </p:pic>
      <p:sp>
        <p:nvSpPr>
          <p:cNvPr id="10" name="TextBox 9"/>
          <p:cNvSpPr txBox="1"/>
          <p:nvPr/>
        </p:nvSpPr>
        <p:spPr>
          <a:xfrm>
            <a:off x="7315200" y="2029968"/>
            <a:ext cx="4389120" cy="256032"/>
          </a:xfrm>
          <a:prstGeom prst="rect">
            <a:avLst/>
          </a:prstGeom>
          <a:noFill/>
        </p:spPr>
        <p:txBody>
          <a:bodyPr wrap="square" lIns="0" rIns="0" tIns="0" bIns="0">
            <a:spAutoFit/>
          </a:bodyPr>
          <a:lstStyle/>
          <a:p>
            <a:pPr>
              <a:spcAft>
                <a:spcPts val="600"/>
              </a:spcAft>
              <a:defRPr sz="1300" b="1">
                <a:solidFill>
                  <a:srgbClr val="78D8B4"/>
                </a:solidFill>
                <a:latin typeface="Consolas"/>
              </a:defRPr>
            </a:pPr>
            <a:r>
              <a:t>INTERVENTIONS</a:t>
            </a:r>
          </a:p>
        </p:txBody>
      </p:sp>
      <p:sp>
        <p:nvSpPr>
          <p:cNvPr id="11" name="TextBox 10"/>
          <p:cNvSpPr txBox="1"/>
          <p:nvPr/>
        </p:nvSpPr>
        <p:spPr>
          <a:xfrm>
            <a:off x="7315200" y="2340864"/>
            <a:ext cx="4343400" cy="722376"/>
          </a:xfrm>
          <a:prstGeom prst="rect">
            <a:avLst/>
          </a:prstGeom>
          <a:noFill/>
        </p:spPr>
        <p:txBody>
          <a:bodyPr wrap="square" lIns="0" rIns="0" tIns="0" bIns="0">
            <a:spAutoFit/>
          </a:bodyPr>
          <a:lstStyle/>
          <a:p>
            <a:pPr>
              <a:spcAft>
                <a:spcPts val="600"/>
              </a:spcAft>
              <a:defRPr sz="1500" b="0">
                <a:solidFill>
                  <a:srgbClr val="F3F1E9"/>
                </a:solidFill>
                <a:latin typeface="Calibri"/>
              </a:defRPr>
            </a:pPr>
            <a:r>
              <a:t>8 entries: trees, canal-bank strips, mangroves, ponds, cool/green roofs, cool pavements and zero-credit canals.</a:t>
            </a:r>
          </a:p>
        </p:txBody>
      </p:sp>
      <p:sp>
        <p:nvSpPr>
          <p:cNvPr id="12" name="TextBox 11"/>
          <p:cNvSpPr txBox="1"/>
          <p:nvPr/>
        </p:nvSpPr>
        <p:spPr>
          <a:xfrm>
            <a:off x="7315200" y="3063240"/>
            <a:ext cx="4389120" cy="256032"/>
          </a:xfrm>
          <a:prstGeom prst="rect">
            <a:avLst/>
          </a:prstGeom>
          <a:noFill/>
        </p:spPr>
        <p:txBody>
          <a:bodyPr wrap="square" lIns="0" rIns="0" tIns="0" bIns="0">
            <a:spAutoFit/>
          </a:bodyPr>
          <a:lstStyle/>
          <a:p>
            <a:pPr>
              <a:spcAft>
                <a:spcPts val="600"/>
              </a:spcAft>
              <a:defRPr sz="1300" b="1">
                <a:solidFill>
                  <a:srgbClr val="78D8B4"/>
                </a:solidFill>
                <a:latin typeface="Consolas"/>
              </a:defRPr>
            </a:pPr>
            <a:r>
              <a:t>BUDGETS + DEVELOPMENT</a:t>
            </a:r>
          </a:p>
        </p:txBody>
      </p:sp>
      <p:sp>
        <p:nvSpPr>
          <p:cNvPr id="13" name="TextBox 12"/>
          <p:cNvSpPr txBox="1"/>
          <p:nvPr/>
        </p:nvSpPr>
        <p:spPr>
          <a:xfrm>
            <a:off x="7315200" y="3374136"/>
            <a:ext cx="4343400" cy="722376"/>
          </a:xfrm>
          <a:prstGeom prst="rect">
            <a:avLst/>
          </a:prstGeom>
          <a:noFill/>
        </p:spPr>
        <p:txBody>
          <a:bodyPr wrap="square" lIns="0" rIns="0" tIns="0" bIns="0">
            <a:spAutoFit/>
          </a:bodyPr>
          <a:lstStyle/>
          <a:p>
            <a:pPr>
              <a:spcAft>
                <a:spcPts val="600"/>
              </a:spcAft>
              <a:defRPr sz="1500" b="0">
                <a:solidFill>
                  <a:srgbClr val="F3F1E9"/>
                </a:solidFill>
                <a:latin typeface="Calibri"/>
              </a:defRPr>
            </a:pPr>
            <a:r>
              <a:t>3 budgets with 2 baseline strategies; 6 project sites × 4 land uses, with available cooling offsets.</a:t>
            </a:r>
          </a:p>
        </p:txBody>
      </p:sp>
      <p:sp>
        <p:nvSpPr>
          <p:cNvPr id="14" name="TextBox 13"/>
          <p:cNvSpPr txBox="1"/>
          <p:nvPr/>
        </p:nvSpPr>
        <p:spPr>
          <a:xfrm>
            <a:off x="7315200" y="4096512"/>
            <a:ext cx="4389120" cy="256032"/>
          </a:xfrm>
          <a:prstGeom prst="rect">
            <a:avLst/>
          </a:prstGeom>
          <a:noFill/>
        </p:spPr>
        <p:txBody>
          <a:bodyPr wrap="square" lIns="0" rIns="0" tIns="0" bIns="0">
            <a:spAutoFit/>
          </a:bodyPr>
          <a:lstStyle/>
          <a:p>
            <a:pPr>
              <a:spcAft>
                <a:spcPts val="600"/>
              </a:spcAft>
              <a:defRPr sz="1300" b="1">
                <a:solidFill>
                  <a:srgbClr val="78D8B4"/>
                </a:solidFill>
                <a:latin typeface="Consolas"/>
              </a:defRPr>
            </a:pPr>
            <a:r>
              <a:t>WARD LAB + EVIDENCE</a:t>
            </a:r>
          </a:p>
        </p:txBody>
      </p:sp>
      <p:sp>
        <p:nvSpPr>
          <p:cNvPr id="15" name="TextBox 14"/>
          <p:cNvSpPr txBox="1"/>
          <p:nvPr/>
        </p:nvSpPr>
        <p:spPr>
          <a:xfrm>
            <a:off x="7315200" y="4407408"/>
            <a:ext cx="4343400" cy="722376"/>
          </a:xfrm>
          <a:prstGeom prst="rect">
            <a:avLst/>
          </a:prstGeom>
          <a:noFill/>
        </p:spPr>
        <p:txBody>
          <a:bodyPr wrap="square" lIns="0" rIns="0" tIns="0" bIns="0">
            <a:spAutoFit/>
          </a:bodyPr>
          <a:lstStyle/>
          <a:p>
            <a:pPr>
              <a:spcAft>
                <a:spcPts val="600"/>
              </a:spcAft>
              <a:defRPr sz="1500" b="0">
                <a:solidFill>
                  <a:srgbClr val="F3F1E9"/>
                </a:solidFill>
                <a:latin typeface="Calibri"/>
              </a:defRPr>
            </a:pPr>
            <a:r>
              <a:t>Adjust air temperature, humidity, wind and sunlight; inspect validation, data support and report outputs.</a:t>
            </a:r>
          </a:p>
        </p:txBody>
      </p:sp>
      <p:sp>
        <p:nvSpPr>
          <p:cNvPr id="16" name="TextBox 15"/>
          <p:cNvSpPr txBox="1"/>
          <p:nvPr/>
        </p:nvSpPr>
        <p:spPr>
          <a:xfrm>
            <a:off x="7315200" y="5129783"/>
            <a:ext cx="4389120" cy="256032"/>
          </a:xfrm>
          <a:prstGeom prst="rect">
            <a:avLst/>
          </a:prstGeom>
          <a:noFill/>
        </p:spPr>
        <p:txBody>
          <a:bodyPr wrap="square" lIns="0" rIns="0" tIns="0" bIns="0">
            <a:spAutoFit/>
          </a:bodyPr>
          <a:lstStyle/>
          <a:p>
            <a:pPr>
              <a:spcAft>
                <a:spcPts val="600"/>
              </a:spcAft>
              <a:defRPr sz="1300" b="1">
                <a:solidFill>
                  <a:srgbClr val="78D8B4"/>
                </a:solidFill>
                <a:latin typeface="Consolas"/>
              </a:defRPr>
            </a:pPr>
            <a:r>
              <a:t>OPTIONAL 3D PREVIEW</a:t>
            </a:r>
          </a:p>
        </p:txBody>
      </p:sp>
      <p:sp>
        <p:nvSpPr>
          <p:cNvPr id="17" name="TextBox 16"/>
          <p:cNvSpPr txBox="1"/>
          <p:nvPr/>
        </p:nvSpPr>
        <p:spPr>
          <a:xfrm>
            <a:off x="7315200" y="5440679"/>
            <a:ext cx="4343400" cy="722376"/>
          </a:xfrm>
          <a:prstGeom prst="rect">
            <a:avLst/>
          </a:prstGeom>
          <a:noFill/>
        </p:spPr>
        <p:txBody>
          <a:bodyPr wrap="square" lIns="0" rIns="0" tIns="0" bIns="0">
            <a:spAutoFit/>
          </a:bodyPr>
          <a:lstStyle/>
          <a:p>
            <a:pPr>
              <a:spcAft>
                <a:spcPts val="600"/>
              </a:spcAft>
              <a:defRPr sz="1500" b="0">
                <a:solidFill>
                  <a:srgbClr val="F3F1E9"/>
                </a:solidFill>
                <a:latin typeface="Calibri"/>
              </a:defRPr>
            </a:pPr>
            <a:r>
              <a:t>Start simulation, rotate the neighbourhood, replay changes and compare before/after. The scene is illustrative.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C0B"/>
        </a:solidFill>
        <a:effectLst/>
      </p:bgPr>
    </p:bg>
    <p:spTree>
      <p:nvGrpSpPr>
        <p:cNvPr id="1" name=""/>
        <p:cNvGrpSpPr/>
        <p:nvPr/>
      </p:nvGrpSpPr>
      <p:grpSpPr/>
      <p:sp>
        <p:nvSpPr>
          <p:cNvPr id="2" name="Rectangle 1"/>
          <p:cNvSpPr/>
          <p:nvPr/>
        </p:nvSpPr>
        <p:spPr>
          <a:xfrm>
            <a:off x="438912" y="347472"/>
            <a:ext cx="438912" cy="41148"/>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56032"/>
            <a:ext cx="10698480" cy="256032"/>
          </a:xfrm>
          <a:prstGeom prst="rect">
            <a:avLst/>
          </a:prstGeom>
          <a:noFill/>
        </p:spPr>
        <p:txBody>
          <a:bodyPr wrap="square" lIns="0" rIns="0" tIns="0" bIns="0">
            <a:spAutoFit/>
          </a:bodyPr>
          <a:lstStyle/>
          <a:p>
            <a:pPr>
              <a:spcAft>
                <a:spcPts val="600"/>
              </a:spcAft>
              <a:defRPr sz="1100" b="1">
                <a:solidFill>
                  <a:srgbClr val="FF852F"/>
                </a:solidFill>
                <a:latin typeface="Consolas"/>
              </a:defRPr>
            </a:pPr>
            <a:r>
              <a:t>MEASURED MODEL PERFORMANCE / PROJECTED PLANNING IMPACT</a:t>
            </a:r>
          </a:p>
        </p:txBody>
      </p:sp>
      <p:sp>
        <p:nvSpPr>
          <p:cNvPr id="4" name="TextBox 3"/>
          <p:cNvSpPr txBox="1"/>
          <p:nvPr/>
        </p:nvSpPr>
        <p:spPr>
          <a:xfrm>
            <a:off x="457200" y="749808"/>
            <a:ext cx="11247120" cy="603504"/>
          </a:xfrm>
          <a:prstGeom prst="rect">
            <a:avLst/>
          </a:prstGeom>
          <a:noFill/>
        </p:spPr>
        <p:txBody>
          <a:bodyPr wrap="square" lIns="0" rIns="0" tIns="0" bIns="0">
            <a:spAutoFit/>
          </a:bodyPr>
          <a:lstStyle/>
          <a:p>
            <a:pPr>
              <a:spcAft>
                <a:spcPts val="600"/>
              </a:spcAft>
              <a:defRPr sz="3200" b="1">
                <a:solidFill>
                  <a:srgbClr val="F3F1E9"/>
                </a:solidFill>
                <a:latin typeface="Calibri"/>
              </a:defRPr>
            </a:pPr>
            <a:r>
              <a:t>₹10 crore: a quantified cooling scenario</a:t>
            </a:r>
          </a:p>
        </p:txBody>
      </p:sp>
      <p:sp>
        <p:nvSpPr>
          <p:cNvPr id="5" name="TextBox 4"/>
          <p:cNvSpPr txBox="1"/>
          <p:nvPr/>
        </p:nvSpPr>
        <p:spPr>
          <a:xfrm>
            <a:off x="475488" y="1435608"/>
            <a:ext cx="11064240" cy="493776"/>
          </a:xfrm>
          <a:prstGeom prst="rect">
            <a:avLst/>
          </a:prstGeom>
          <a:noFill/>
        </p:spPr>
        <p:txBody>
          <a:bodyPr wrap="square" lIns="0" rIns="0" tIns="0" bIns="0">
            <a:spAutoFit/>
          </a:bodyPr>
          <a:lstStyle/>
          <a:p>
            <a:pPr>
              <a:spcAft>
                <a:spcPts val="600"/>
              </a:spcAft>
              <a:defRPr sz="1500" b="0">
                <a:solidFill>
                  <a:srgbClr val="AABAB1"/>
                </a:solidFill>
                <a:latin typeface="Calibri"/>
              </a:defRPr>
            </a:pPr>
            <a:r>
              <a:t>Saved estimates for the wider study area, not measured post-construction outcomes.</a:t>
            </a:r>
          </a:p>
        </p:txBody>
      </p:sp>
      <p:sp>
        <p:nvSpPr>
          <p:cNvPr id="6" name="Rectangle 5"/>
          <p:cNvSpPr/>
          <p:nvPr/>
        </p:nvSpPr>
        <p:spPr>
          <a:xfrm>
            <a:off x="457200" y="6400800"/>
            <a:ext cx="11274552" cy="10972"/>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10515600" cy="210312"/>
          </a:xfrm>
          <a:prstGeom prst="rect">
            <a:avLst/>
          </a:prstGeom>
          <a:noFill/>
        </p:spPr>
        <p:txBody>
          <a:bodyPr wrap="square" lIns="0" rIns="0" tIns="0" bIns="0">
            <a:spAutoFit/>
          </a:bodyPr>
          <a:lstStyle/>
          <a:p>
            <a:pPr>
              <a:spcAft>
                <a:spcPts val="600"/>
              </a:spcAft>
              <a:defRPr sz="900" b="0">
                <a:solidFill>
                  <a:srgbClr val="AABAB1"/>
                </a:solidFill>
                <a:latin typeface="Calibri"/>
              </a:defRPr>
            </a:pPr>
            <a:r>
              <a:t>Sources: data/app/plans.json (preset 10); metrics.json (spatial_cv, backtest). Values rounded.</a:t>
            </a:r>
          </a:p>
        </p:txBody>
      </p:sp>
      <p:sp>
        <p:nvSpPr>
          <p:cNvPr id="8" name="TextBox 7"/>
          <p:cNvSpPr txBox="1"/>
          <p:nvPr/>
        </p:nvSpPr>
        <p:spPr>
          <a:xfrm>
            <a:off x="11091672" y="6492240"/>
            <a:ext cx="640080" cy="237744"/>
          </a:xfrm>
          <a:prstGeom prst="rect">
            <a:avLst/>
          </a:prstGeom>
          <a:noFill/>
        </p:spPr>
        <p:txBody>
          <a:bodyPr wrap="square" lIns="0" rIns="0" tIns="0" bIns="0">
            <a:spAutoFit/>
          </a:bodyPr>
          <a:lstStyle/>
          <a:p>
            <a:pPr>
              <a:spcAft>
                <a:spcPts val="600"/>
              </a:spcAft>
              <a:defRPr sz="1000" b="0">
                <a:solidFill>
                  <a:srgbClr val="78D8B4"/>
                </a:solidFill>
                <a:latin typeface="Consolas"/>
              </a:defRPr>
            </a:pPr>
            <a:r>
              <a:t>04 / 05</a:t>
            </a:r>
          </a:p>
        </p:txBody>
      </p:sp>
      <p:sp>
        <p:nvSpPr>
          <p:cNvPr id="9" name="TextBox 8"/>
          <p:cNvSpPr txBox="1"/>
          <p:nvPr/>
        </p:nvSpPr>
        <p:spPr>
          <a:xfrm>
            <a:off x="502920" y="2029968"/>
            <a:ext cx="2560320" cy="621792"/>
          </a:xfrm>
          <a:prstGeom prst="rect">
            <a:avLst/>
          </a:prstGeom>
          <a:noFill/>
        </p:spPr>
        <p:txBody>
          <a:bodyPr wrap="square" lIns="0" rIns="0" tIns="0" bIns="0">
            <a:spAutoFit/>
          </a:bodyPr>
          <a:lstStyle/>
          <a:p>
            <a:pPr>
              <a:spcAft>
                <a:spcPts val="600"/>
              </a:spcAft>
              <a:defRPr sz="3200" b="1">
                <a:solidFill>
                  <a:srgbClr val="78D8B4"/>
                </a:solidFill>
                <a:latin typeface="Calibri"/>
              </a:defRPr>
            </a:pPr>
            <a:r>
              <a:t>186,258</a:t>
            </a:r>
          </a:p>
        </p:txBody>
      </p:sp>
      <p:sp>
        <p:nvSpPr>
          <p:cNvPr id="10" name="TextBox 9"/>
          <p:cNvSpPr txBox="1"/>
          <p:nvPr/>
        </p:nvSpPr>
        <p:spPr>
          <a:xfrm>
            <a:off x="502920" y="2697480"/>
            <a:ext cx="2606040" cy="548640"/>
          </a:xfrm>
          <a:prstGeom prst="rect">
            <a:avLst/>
          </a:prstGeom>
          <a:noFill/>
        </p:spPr>
        <p:txBody>
          <a:bodyPr wrap="square" lIns="0" rIns="0" tIns="0" bIns="0">
            <a:spAutoFit/>
          </a:bodyPr>
          <a:lstStyle/>
          <a:p>
            <a:pPr>
              <a:spcAft>
                <a:spcPts val="600"/>
              </a:spcAft>
              <a:defRPr sz="1400" b="0">
                <a:solidFill>
                  <a:srgbClr val="AABAB1"/>
                </a:solidFill>
                <a:latin typeface="Calibri"/>
              </a:defRPr>
            </a:pPr>
            <a:r>
              <a:t>people cooled ≥0.1°C</a:t>
            </a:r>
          </a:p>
        </p:txBody>
      </p:sp>
      <p:sp>
        <p:nvSpPr>
          <p:cNvPr id="11" name="TextBox 10"/>
          <p:cNvSpPr txBox="1"/>
          <p:nvPr/>
        </p:nvSpPr>
        <p:spPr>
          <a:xfrm>
            <a:off x="3474720" y="2029968"/>
            <a:ext cx="2560320" cy="621792"/>
          </a:xfrm>
          <a:prstGeom prst="rect">
            <a:avLst/>
          </a:prstGeom>
          <a:noFill/>
        </p:spPr>
        <p:txBody>
          <a:bodyPr wrap="square" lIns="0" rIns="0" tIns="0" bIns="0">
            <a:spAutoFit/>
          </a:bodyPr>
          <a:lstStyle/>
          <a:p>
            <a:pPr>
              <a:spcAft>
                <a:spcPts val="600"/>
              </a:spcAft>
              <a:defRPr sz="3200" b="1">
                <a:solidFill>
                  <a:srgbClr val="78D8B4"/>
                </a:solidFill>
                <a:latin typeface="Calibri"/>
              </a:defRPr>
            </a:pPr>
            <a:r>
              <a:t>1.20°C</a:t>
            </a:r>
          </a:p>
        </p:txBody>
      </p:sp>
      <p:sp>
        <p:nvSpPr>
          <p:cNvPr id="12" name="TextBox 11"/>
          <p:cNvSpPr txBox="1"/>
          <p:nvPr/>
        </p:nvSpPr>
        <p:spPr>
          <a:xfrm>
            <a:off x="3474720" y="2697480"/>
            <a:ext cx="2606040" cy="548640"/>
          </a:xfrm>
          <a:prstGeom prst="rect">
            <a:avLst/>
          </a:prstGeom>
          <a:noFill/>
        </p:spPr>
        <p:txBody>
          <a:bodyPr wrap="square" lIns="0" rIns="0" tIns="0" bIns="0">
            <a:spAutoFit/>
          </a:bodyPr>
          <a:lstStyle/>
          <a:p>
            <a:pPr>
              <a:spcAft>
                <a:spcPts val="600"/>
              </a:spcAft>
              <a:defRPr sz="1400" b="0">
                <a:solidFill>
                  <a:srgbClr val="AABAB1"/>
                </a:solidFill>
                <a:latin typeface="Calibri"/>
              </a:defRPr>
            </a:pPr>
            <a:r>
              <a:t>mean cooling in cooled cells</a:t>
            </a:r>
          </a:p>
        </p:txBody>
      </p:sp>
      <p:sp>
        <p:nvSpPr>
          <p:cNvPr id="13" name="TextBox 12"/>
          <p:cNvSpPr txBox="1"/>
          <p:nvPr/>
        </p:nvSpPr>
        <p:spPr>
          <a:xfrm>
            <a:off x="6400800" y="2029968"/>
            <a:ext cx="2560320" cy="621792"/>
          </a:xfrm>
          <a:prstGeom prst="rect">
            <a:avLst/>
          </a:prstGeom>
          <a:noFill/>
        </p:spPr>
        <p:txBody>
          <a:bodyPr wrap="square" lIns="0" rIns="0" tIns="0" bIns="0">
            <a:spAutoFit/>
          </a:bodyPr>
          <a:lstStyle/>
          <a:p>
            <a:pPr>
              <a:spcAft>
                <a:spcPts val="600"/>
              </a:spcAft>
              <a:defRPr sz="3200" b="1">
                <a:solidFill>
                  <a:srgbClr val="78D8B4"/>
                </a:solidFill>
                <a:latin typeface="Calibri"/>
              </a:defRPr>
            </a:pPr>
            <a:r>
              <a:t>431</a:t>
            </a:r>
          </a:p>
        </p:txBody>
      </p:sp>
      <p:sp>
        <p:nvSpPr>
          <p:cNvPr id="14" name="TextBox 13"/>
          <p:cNvSpPr txBox="1"/>
          <p:nvPr/>
        </p:nvSpPr>
        <p:spPr>
          <a:xfrm>
            <a:off x="6400800" y="2697480"/>
            <a:ext cx="2606040" cy="548640"/>
          </a:xfrm>
          <a:prstGeom prst="rect">
            <a:avLst/>
          </a:prstGeom>
          <a:noFill/>
        </p:spPr>
        <p:txBody>
          <a:bodyPr wrap="square" lIns="0" rIns="0" tIns="0" bIns="0">
            <a:spAutoFit/>
          </a:bodyPr>
          <a:lstStyle/>
          <a:p>
            <a:pPr>
              <a:spcAft>
                <a:spcPts val="600"/>
              </a:spcAft>
              <a:defRPr sz="1400" b="0">
                <a:solidFill>
                  <a:srgbClr val="AABAB1"/>
                </a:solidFill>
                <a:latin typeface="Calibri"/>
              </a:defRPr>
            </a:pPr>
            <a:r>
              <a:t>selected 100 m treatment sites</a:t>
            </a:r>
          </a:p>
        </p:txBody>
      </p:sp>
      <p:sp>
        <p:nvSpPr>
          <p:cNvPr id="15" name="TextBox 14"/>
          <p:cNvSpPr txBox="1"/>
          <p:nvPr/>
        </p:nvSpPr>
        <p:spPr>
          <a:xfrm>
            <a:off x="9281160" y="2029968"/>
            <a:ext cx="2560320" cy="621792"/>
          </a:xfrm>
          <a:prstGeom prst="rect">
            <a:avLst/>
          </a:prstGeom>
          <a:noFill/>
        </p:spPr>
        <p:txBody>
          <a:bodyPr wrap="square" lIns="0" rIns="0" tIns="0" bIns="0">
            <a:spAutoFit/>
          </a:bodyPr>
          <a:lstStyle/>
          <a:p>
            <a:pPr>
              <a:spcAft>
                <a:spcPts val="600"/>
              </a:spcAft>
              <a:defRPr sz="3200" b="1">
                <a:solidFill>
                  <a:srgbClr val="78D8B4"/>
                </a:solidFill>
                <a:latin typeface="Calibri"/>
              </a:defRPr>
            </a:pPr>
            <a:r>
              <a:t>₹9.98 cr</a:t>
            </a:r>
          </a:p>
        </p:txBody>
      </p:sp>
      <p:sp>
        <p:nvSpPr>
          <p:cNvPr id="16" name="TextBox 15"/>
          <p:cNvSpPr txBox="1"/>
          <p:nvPr/>
        </p:nvSpPr>
        <p:spPr>
          <a:xfrm>
            <a:off x="9281160" y="2697480"/>
            <a:ext cx="2606040" cy="548640"/>
          </a:xfrm>
          <a:prstGeom prst="rect">
            <a:avLst/>
          </a:prstGeom>
          <a:noFill/>
        </p:spPr>
        <p:txBody>
          <a:bodyPr wrap="square" lIns="0" rIns="0" tIns="0" bIns="0">
            <a:spAutoFit/>
          </a:bodyPr>
          <a:lstStyle/>
          <a:p>
            <a:pPr>
              <a:spcAft>
                <a:spcPts val="600"/>
              </a:spcAft>
              <a:defRPr sz="1400" b="0">
                <a:solidFill>
                  <a:srgbClr val="AABAB1"/>
                </a:solidFill>
                <a:latin typeface="Calibri"/>
              </a:defRPr>
            </a:pPr>
            <a:r>
              <a:t>estimated spend</a:t>
            </a:r>
          </a:p>
        </p:txBody>
      </p:sp>
      <p:sp>
        <p:nvSpPr>
          <p:cNvPr id="17" name="TextBox 16"/>
          <p:cNvSpPr txBox="1"/>
          <p:nvPr/>
        </p:nvSpPr>
        <p:spPr>
          <a:xfrm>
            <a:off x="502920" y="3493008"/>
            <a:ext cx="5486400" cy="365760"/>
          </a:xfrm>
          <a:prstGeom prst="rect">
            <a:avLst/>
          </a:prstGeom>
          <a:noFill/>
        </p:spPr>
        <p:txBody>
          <a:bodyPr wrap="square" lIns="0" rIns="0" tIns="0" bIns="0">
            <a:spAutoFit/>
          </a:bodyPr>
          <a:lstStyle/>
          <a:p>
            <a:pPr>
              <a:spcAft>
                <a:spcPts val="600"/>
              </a:spcAft>
              <a:defRPr sz="1400" b="1">
                <a:solidFill>
                  <a:srgbClr val="FF852F"/>
                </a:solidFill>
                <a:latin typeface="Consolas"/>
              </a:defRPr>
            </a:pPr>
            <a:r>
              <a:t>TOTAL COOLING BENEFIT / person·°C</a:t>
            </a:r>
          </a:p>
        </p:txBody>
      </p:sp>
      <p:sp>
        <p:nvSpPr>
          <p:cNvPr id="18" name="TextBox 17"/>
          <p:cNvSpPr txBox="1"/>
          <p:nvPr/>
        </p:nvSpPr>
        <p:spPr>
          <a:xfrm>
            <a:off x="502920" y="4041648"/>
            <a:ext cx="1828800" cy="274320"/>
          </a:xfrm>
          <a:prstGeom prst="rect">
            <a:avLst/>
          </a:prstGeom>
          <a:noFill/>
        </p:spPr>
        <p:txBody>
          <a:bodyPr wrap="square" lIns="0" rIns="0" tIns="0" bIns="0">
            <a:spAutoFit/>
          </a:bodyPr>
          <a:lstStyle/>
          <a:p>
            <a:pPr>
              <a:spcAft>
                <a:spcPts val="600"/>
              </a:spcAft>
              <a:defRPr sz="1500" b="0">
                <a:solidFill>
                  <a:srgbClr val="F3F1E9"/>
                </a:solidFill>
                <a:latin typeface="Calibri"/>
              </a:defRPr>
            </a:pPr>
            <a:r>
              <a:t>UHI plan</a:t>
            </a:r>
          </a:p>
        </p:txBody>
      </p:sp>
      <p:sp>
        <p:nvSpPr>
          <p:cNvPr id="19" name="Rectangle 18"/>
          <p:cNvSpPr/>
          <p:nvPr/>
        </p:nvSpPr>
        <p:spPr>
          <a:xfrm>
            <a:off x="2423160" y="4064508"/>
            <a:ext cx="2743200" cy="210312"/>
          </a:xfrm>
          <a:prstGeom prst="rect">
            <a:avLst/>
          </a:prstGeom>
          <a:solidFill>
            <a:srgbClr val="78D8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49240" y="4027932"/>
            <a:ext cx="914400" cy="320040"/>
          </a:xfrm>
          <a:prstGeom prst="rect">
            <a:avLst/>
          </a:prstGeom>
          <a:noFill/>
        </p:spPr>
        <p:txBody>
          <a:bodyPr wrap="square" lIns="0" rIns="0" tIns="0" bIns="0">
            <a:spAutoFit/>
          </a:bodyPr>
          <a:lstStyle/>
          <a:p>
            <a:pPr>
              <a:spcAft>
                <a:spcPts val="600"/>
              </a:spcAft>
              <a:defRPr sz="1500" b="0">
                <a:solidFill>
                  <a:srgbClr val="78D8B4"/>
                </a:solidFill>
                <a:latin typeface="Calibri"/>
              </a:defRPr>
            </a:pPr>
            <a:r>
              <a:t>228,650</a:t>
            </a:r>
          </a:p>
        </p:txBody>
      </p:sp>
      <p:sp>
        <p:nvSpPr>
          <p:cNvPr id="21" name="TextBox 20"/>
          <p:cNvSpPr txBox="1"/>
          <p:nvPr/>
        </p:nvSpPr>
        <p:spPr>
          <a:xfrm>
            <a:off x="502920" y="4645152"/>
            <a:ext cx="1828800" cy="274320"/>
          </a:xfrm>
          <a:prstGeom prst="rect">
            <a:avLst/>
          </a:prstGeom>
          <a:noFill/>
        </p:spPr>
        <p:txBody>
          <a:bodyPr wrap="square" lIns="0" rIns="0" tIns="0" bIns="0">
            <a:spAutoFit/>
          </a:bodyPr>
          <a:lstStyle/>
          <a:p>
            <a:pPr>
              <a:spcAft>
                <a:spcPts val="600"/>
              </a:spcAft>
              <a:defRPr sz="1500" b="0">
                <a:solidFill>
                  <a:srgbClr val="F3F1E9"/>
                </a:solidFill>
                <a:latin typeface="Calibri"/>
              </a:defRPr>
            </a:pPr>
            <a:r>
              <a:t>Trees everywhere</a:t>
            </a:r>
          </a:p>
        </p:txBody>
      </p:sp>
      <p:sp>
        <p:nvSpPr>
          <p:cNvPr id="22" name="Rectangle 21"/>
          <p:cNvSpPr/>
          <p:nvPr/>
        </p:nvSpPr>
        <p:spPr>
          <a:xfrm>
            <a:off x="2423160" y="4668012"/>
            <a:ext cx="531454" cy="210312"/>
          </a:xfrm>
          <a:prstGeom prst="rect">
            <a:avLst/>
          </a:prstGeom>
          <a:solidFill>
            <a:srgbClr val="526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4631436"/>
            <a:ext cx="914400" cy="320040"/>
          </a:xfrm>
          <a:prstGeom prst="rect">
            <a:avLst/>
          </a:prstGeom>
          <a:noFill/>
        </p:spPr>
        <p:txBody>
          <a:bodyPr wrap="square" lIns="0" rIns="0" tIns="0" bIns="0">
            <a:spAutoFit/>
          </a:bodyPr>
          <a:lstStyle/>
          <a:p>
            <a:pPr>
              <a:spcAft>
                <a:spcPts val="600"/>
              </a:spcAft>
              <a:defRPr sz="1500" b="0">
                <a:solidFill>
                  <a:srgbClr val="F3F1E9"/>
                </a:solidFill>
                <a:latin typeface="Calibri"/>
              </a:defRPr>
            </a:pPr>
            <a:r>
              <a:t>44,298</a:t>
            </a:r>
          </a:p>
        </p:txBody>
      </p:sp>
      <p:sp>
        <p:nvSpPr>
          <p:cNvPr id="24" name="TextBox 23"/>
          <p:cNvSpPr txBox="1"/>
          <p:nvPr/>
        </p:nvSpPr>
        <p:spPr>
          <a:xfrm>
            <a:off x="502920" y="5248656"/>
            <a:ext cx="1828800" cy="274320"/>
          </a:xfrm>
          <a:prstGeom prst="rect">
            <a:avLst/>
          </a:prstGeom>
          <a:noFill/>
        </p:spPr>
        <p:txBody>
          <a:bodyPr wrap="square" lIns="0" rIns="0" tIns="0" bIns="0">
            <a:spAutoFit/>
          </a:bodyPr>
          <a:lstStyle/>
          <a:p>
            <a:pPr>
              <a:spcAft>
                <a:spcPts val="600"/>
              </a:spcAft>
              <a:defRPr sz="1500" b="0">
                <a:solidFill>
                  <a:srgbClr val="F3F1E9"/>
                </a:solidFill>
                <a:latin typeface="Calibri"/>
              </a:defRPr>
            </a:pPr>
            <a:r>
              <a:t>Spread evenly</a:t>
            </a:r>
          </a:p>
        </p:txBody>
      </p:sp>
      <p:sp>
        <p:nvSpPr>
          <p:cNvPr id="25" name="Rectangle 24"/>
          <p:cNvSpPr/>
          <p:nvPr/>
        </p:nvSpPr>
        <p:spPr>
          <a:xfrm>
            <a:off x="2423160" y="5271516"/>
            <a:ext cx="85283" cy="210312"/>
          </a:xfrm>
          <a:prstGeom prst="rect">
            <a:avLst/>
          </a:prstGeom>
          <a:solidFill>
            <a:srgbClr val="5269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5234940"/>
            <a:ext cx="914400" cy="320040"/>
          </a:xfrm>
          <a:prstGeom prst="rect">
            <a:avLst/>
          </a:prstGeom>
          <a:noFill/>
        </p:spPr>
        <p:txBody>
          <a:bodyPr wrap="square" lIns="0" rIns="0" tIns="0" bIns="0">
            <a:spAutoFit/>
          </a:bodyPr>
          <a:lstStyle/>
          <a:p>
            <a:pPr>
              <a:spcAft>
                <a:spcPts val="600"/>
              </a:spcAft>
              <a:defRPr sz="1500" b="0">
                <a:solidFill>
                  <a:srgbClr val="F3F1E9"/>
                </a:solidFill>
                <a:latin typeface="Calibri"/>
              </a:defRPr>
            </a:pPr>
            <a:r>
              <a:t>7,108</a:t>
            </a:r>
          </a:p>
        </p:txBody>
      </p:sp>
      <p:sp>
        <p:nvSpPr>
          <p:cNvPr id="27" name="TextBox 26"/>
          <p:cNvSpPr txBox="1"/>
          <p:nvPr/>
        </p:nvSpPr>
        <p:spPr>
          <a:xfrm>
            <a:off x="502920" y="5961888"/>
            <a:ext cx="5715000" cy="274320"/>
          </a:xfrm>
          <a:prstGeom prst="rect">
            <a:avLst/>
          </a:prstGeom>
          <a:noFill/>
        </p:spPr>
        <p:txBody>
          <a:bodyPr wrap="square" lIns="0" rIns="0" tIns="0" bIns="0">
            <a:spAutoFit/>
          </a:bodyPr>
          <a:lstStyle/>
          <a:p>
            <a:pPr>
              <a:spcAft>
                <a:spcPts val="600"/>
              </a:spcAft>
              <a:defRPr sz="1200" b="0">
                <a:solidFill>
                  <a:srgbClr val="AABAB1"/>
                </a:solidFill>
                <a:latin typeface="Calibri"/>
              </a:defRPr>
            </a:pPr>
            <a:r>
              <a:t>Mix: 338 street-tree sites · 87 cool roofs · 5 mangrove · 1 canal strip</a:t>
            </a:r>
          </a:p>
        </p:txBody>
      </p:sp>
      <p:sp>
        <p:nvSpPr>
          <p:cNvPr id="28" name="Rectangle 27"/>
          <p:cNvSpPr/>
          <p:nvPr/>
        </p:nvSpPr>
        <p:spPr>
          <a:xfrm>
            <a:off x="6583680" y="3520440"/>
            <a:ext cx="13716" cy="2606040"/>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3502152"/>
            <a:ext cx="4754880" cy="320040"/>
          </a:xfrm>
          <a:prstGeom prst="rect">
            <a:avLst/>
          </a:prstGeom>
          <a:noFill/>
        </p:spPr>
        <p:txBody>
          <a:bodyPr wrap="square" lIns="0" rIns="0" tIns="0" bIns="0">
            <a:spAutoFit/>
          </a:bodyPr>
          <a:lstStyle/>
          <a:p>
            <a:pPr>
              <a:spcAft>
                <a:spcPts val="600"/>
              </a:spcAft>
              <a:defRPr sz="1400" b="1">
                <a:solidFill>
                  <a:srgbClr val="FF852F"/>
                </a:solidFill>
                <a:latin typeface="Consolas"/>
              </a:defRPr>
            </a:pPr>
            <a:r>
              <a:t>VALIDATION THAT CAN BE INSPECTED</a:t>
            </a:r>
          </a:p>
        </p:txBody>
      </p:sp>
      <p:sp>
        <p:nvSpPr>
          <p:cNvPr id="30" name="TextBox 29"/>
          <p:cNvSpPr txBox="1"/>
          <p:nvPr/>
        </p:nvSpPr>
        <p:spPr>
          <a:xfrm>
            <a:off x="6903720" y="3977639"/>
            <a:ext cx="4754880" cy="1170432"/>
          </a:xfrm>
          <a:prstGeom prst="rect">
            <a:avLst/>
          </a:prstGeom>
          <a:noFill/>
        </p:spPr>
        <p:txBody>
          <a:bodyPr wrap="square" lIns="0" rIns="0" tIns="0" bIns="0">
            <a:spAutoFit/>
          </a:bodyPr>
          <a:lstStyle/>
          <a:p>
            <a:pPr>
              <a:spcAft>
                <a:spcPts val="600"/>
              </a:spcAft>
              <a:defRPr sz="1800" b="0">
                <a:solidFill>
                  <a:srgbClr val="F3F1E9"/>
                </a:solidFill>
                <a:latin typeface="Calibri"/>
              </a:defRPr>
            </a:pPr>
            <a:r>
              <a:t>Spatial R² 0.829  |  RMSE 1.40°C</a:t>
            </a:r>
          </a:p>
          <a:p>
            <a:pPr>
              <a:spcAft>
                <a:spcPts val="600"/>
              </a:spcAft>
              <a:defRPr sz="1800" b="0">
                <a:solidFill>
                  <a:srgbClr val="F3F1E9"/>
                </a:solidFill>
                <a:latin typeface="Calibri"/>
              </a:defRPr>
            </a:pPr>
            <a:r>
              <a:t>140 held-out spatial blocks (~2 km)</a:t>
            </a:r>
          </a:p>
          <a:p>
            <a:pPr>
              <a:spcAft>
                <a:spcPts val="600"/>
              </a:spcAft>
              <a:defRPr sz="1800" b="0">
                <a:solidFill>
                  <a:srgbClr val="F3F1E9"/>
                </a:solidFill>
                <a:latin typeface="Calibri"/>
              </a:defRPr>
            </a:pPr>
            <a:r>
              <a:t>Linear baseline: R² 0.616; RMSE 2.10°C</a:t>
            </a:r>
          </a:p>
        </p:txBody>
      </p:sp>
      <p:sp>
        <p:nvSpPr>
          <p:cNvPr id="31" name="TextBox 30"/>
          <p:cNvSpPr txBox="1"/>
          <p:nvPr/>
        </p:nvSpPr>
        <p:spPr>
          <a:xfrm>
            <a:off x="6903720" y="5349240"/>
            <a:ext cx="4681728" cy="777240"/>
          </a:xfrm>
          <a:prstGeom prst="rect">
            <a:avLst/>
          </a:prstGeom>
          <a:noFill/>
        </p:spPr>
        <p:txBody>
          <a:bodyPr wrap="square" lIns="0" rIns="0" tIns="0" bIns="0">
            <a:spAutoFit/>
          </a:bodyPr>
          <a:lstStyle/>
          <a:p>
            <a:pPr>
              <a:spcAft>
                <a:spcPts val="600"/>
              </a:spcAft>
              <a:defRPr sz="1500" b="0">
                <a:solidFill>
                  <a:srgbClr val="AABAB1"/>
                </a:solidFill>
                <a:latin typeface="Calibri"/>
              </a:defRPr>
            </a:pPr>
            <a:r>
              <a:t>2017–2024 back-test: 8,000 changed cells; MAE 1.40°C; correlation 0.35. The unconstrained model scores slightly better (R² 0.839).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C0B"/>
        </a:solidFill>
        <a:effectLst/>
      </p:bgPr>
    </p:bg>
    <p:spTree>
      <p:nvGrpSpPr>
        <p:cNvPr id="1" name=""/>
        <p:cNvGrpSpPr/>
        <p:nvPr/>
      </p:nvGrpSpPr>
      <p:grpSpPr/>
      <p:sp>
        <p:nvSpPr>
          <p:cNvPr id="2" name="Rectangle 1"/>
          <p:cNvSpPr/>
          <p:nvPr/>
        </p:nvSpPr>
        <p:spPr>
          <a:xfrm>
            <a:off x="438912" y="347472"/>
            <a:ext cx="438912" cy="41148"/>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56032"/>
            <a:ext cx="10698480" cy="256032"/>
          </a:xfrm>
          <a:prstGeom prst="rect">
            <a:avLst/>
          </a:prstGeom>
          <a:noFill/>
        </p:spPr>
        <p:txBody>
          <a:bodyPr wrap="square" lIns="0" rIns="0" tIns="0" bIns="0">
            <a:spAutoFit/>
          </a:bodyPr>
          <a:lstStyle/>
          <a:p>
            <a:pPr>
              <a:spcAft>
                <a:spcPts val="600"/>
              </a:spcAft>
              <a:defRPr sz="1100" b="1">
                <a:solidFill>
                  <a:srgbClr val="FF852F"/>
                </a:solidFill>
                <a:latin typeface="Consolas"/>
              </a:defRPr>
            </a:pPr>
            <a:r>
              <a:t>TRUST / DELIVERY / NEXT STEPS</a:t>
            </a:r>
          </a:p>
        </p:txBody>
      </p:sp>
      <p:sp>
        <p:nvSpPr>
          <p:cNvPr id="4" name="TextBox 3"/>
          <p:cNvSpPr txBox="1"/>
          <p:nvPr/>
        </p:nvSpPr>
        <p:spPr>
          <a:xfrm>
            <a:off x="457200" y="749808"/>
            <a:ext cx="11247120" cy="603504"/>
          </a:xfrm>
          <a:prstGeom prst="rect">
            <a:avLst/>
          </a:prstGeom>
          <a:noFill/>
        </p:spPr>
        <p:txBody>
          <a:bodyPr wrap="square" lIns="0" rIns="0" tIns="0" bIns="0">
            <a:spAutoFit/>
          </a:bodyPr>
          <a:lstStyle/>
          <a:p>
            <a:pPr>
              <a:spcAft>
                <a:spcPts val="600"/>
              </a:spcAft>
              <a:defRPr sz="3200" b="1">
                <a:solidFill>
                  <a:srgbClr val="F3F1E9"/>
                </a:solidFill>
                <a:latin typeface="Calibri"/>
              </a:defRPr>
            </a:pPr>
            <a:r>
              <a:t>Useful today. Explicit about what comes next.</a:t>
            </a:r>
          </a:p>
        </p:txBody>
      </p:sp>
      <p:sp>
        <p:nvSpPr>
          <p:cNvPr id="5" name="TextBox 4"/>
          <p:cNvSpPr txBox="1"/>
          <p:nvPr/>
        </p:nvSpPr>
        <p:spPr>
          <a:xfrm>
            <a:off x="475488" y="1435608"/>
            <a:ext cx="11064240" cy="493776"/>
          </a:xfrm>
          <a:prstGeom prst="rect">
            <a:avLst/>
          </a:prstGeom>
          <a:noFill/>
        </p:spPr>
        <p:txBody>
          <a:bodyPr wrap="square" lIns="0" rIns="0" tIns="0" bIns="0">
            <a:spAutoFit/>
          </a:bodyPr>
          <a:lstStyle/>
          <a:p>
            <a:pPr>
              <a:spcAft>
                <a:spcPts val="600"/>
              </a:spcAft>
              <a:defRPr sz="1500" b="0">
                <a:solidFill>
                  <a:srgbClr val="AABAB1"/>
                </a:solidFill>
                <a:latin typeface="Calibri"/>
              </a:defRPr>
            </a:pPr>
            <a:r>
              <a:t>A working planning prototype with traceable outputs, local-language access and honest evidence boundaries.</a:t>
            </a:r>
          </a:p>
        </p:txBody>
      </p:sp>
      <p:sp>
        <p:nvSpPr>
          <p:cNvPr id="6" name="Rectangle 5"/>
          <p:cNvSpPr/>
          <p:nvPr/>
        </p:nvSpPr>
        <p:spPr>
          <a:xfrm>
            <a:off x="457200" y="6400800"/>
            <a:ext cx="11274552" cy="10972"/>
          </a:xfrm>
          <a:prstGeom prst="rect">
            <a:avLst/>
          </a:prstGeom>
          <a:solidFill>
            <a:srgbClr val="344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10515600" cy="210312"/>
          </a:xfrm>
          <a:prstGeom prst="rect">
            <a:avLst/>
          </a:prstGeom>
          <a:noFill/>
        </p:spPr>
        <p:txBody>
          <a:bodyPr wrap="square" lIns="0" rIns="0" tIns="0" bIns="0">
            <a:spAutoFit/>
          </a:bodyPr>
          <a:lstStyle/>
          <a:p>
            <a:pPr>
              <a:spcAft>
                <a:spcPts val="600"/>
              </a:spcAft>
              <a:defRPr sz="900" b="0">
                <a:solidFill>
                  <a:srgbClr val="AABAB1"/>
                </a:solidFill>
                <a:latin typeface="Calibri"/>
              </a:defRPr>
            </a:pPr>
            <a:r>
              <a:t>Sources: PLAN.md; SIMULATIONS.md; data/app/manifest.json; src/uhi/simulation.py; README.md.</a:t>
            </a:r>
          </a:p>
        </p:txBody>
      </p:sp>
      <p:sp>
        <p:nvSpPr>
          <p:cNvPr id="8" name="TextBox 7"/>
          <p:cNvSpPr txBox="1"/>
          <p:nvPr/>
        </p:nvSpPr>
        <p:spPr>
          <a:xfrm>
            <a:off x="11091672" y="6492240"/>
            <a:ext cx="640080" cy="237744"/>
          </a:xfrm>
          <a:prstGeom prst="rect">
            <a:avLst/>
          </a:prstGeom>
          <a:noFill/>
        </p:spPr>
        <p:txBody>
          <a:bodyPr wrap="square" lIns="0" rIns="0" tIns="0" bIns="0">
            <a:spAutoFit/>
          </a:bodyPr>
          <a:lstStyle/>
          <a:p>
            <a:pPr>
              <a:spcAft>
                <a:spcPts val="600"/>
              </a:spcAft>
              <a:defRPr sz="1000" b="0">
                <a:solidFill>
                  <a:srgbClr val="78D8B4"/>
                </a:solidFill>
                <a:latin typeface="Consolas"/>
              </a:defRPr>
            </a:pPr>
            <a:r>
              <a:t>05 / 05</a:t>
            </a:r>
          </a:p>
        </p:txBody>
      </p:sp>
      <p:sp>
        <p:nvSpPr>
          <p:cNvPr id="9" name="TextBox 8"/>
          <p:cNvSpPr txBox="1"/>
          <p:nvPr/>
        </p:nvSpPr>
        <p:spPr>
          <a:xfrm>
            <a:off x="502920" y="2057400"/>
            <a:ext cx="525780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WHAT IS READY</a:t>
            </a:r>
          </a:p>
        </p:txBody>
      </p:sp>
      <p:sp>
        <p:nvSpPr>
          <p:cNvPr id="10" name="TextBox 9"/>
          <p:cNvSpPr txBox="1"/>
          <p:nvPr/>
        </p:nvSpPr>
        <p:spPr>
          <a:xfrm>
            <a:off x="502920" y="2450592"/>
            <a:ext cx="5257800" cy="1097280"/>
          </a:xfrm>
          <a:prstGeom prst="rect">
            <a:avLst/>
          </a:prstGeom>
          <a:noFill/>
        </p:spPr>
        <p:txBody>
          <a:bodyPr wrap="square" lIns="0" rIns="0" tIns="0" bIns="0">
            <a:spAutoFit/>
          </a:bodyPr>
          <a:lstStyle/>
          <a:p>
            <a:pPr>
              <a:spcAft>
                <a:spcPts val="600"/>
              </a:spcAft>
              <a:defRPr sz="1900" b="0">
                <a:solidFill>
                  <a:srgbClr val="F3F1E9"/>
                </a:solidFill>
                <a:latin typeface="Calibri"/>
              </a:defRPr>
            </a:pPr>
            <a:r>
              <a:t>Interactive heat and ward views; saved cooling plans; 24 development scenarios; weather sensitivity; optional 3D preview; report downloads and standard Malayalam.</a:t>
            </a:r>
          </a:p>
        </p:txBody>
      </p:sp>
      <p:sp>
        <p:nvSpPr>
          <p:cNvPr id="11" name="TextBox 10"/>
          <p:cNvSpPr txBox="1"/>
          <p:nvPr/>
        </p:nvSpPr>
        <p:spPr>
          <a:xfrm>
            <a:off x="6400800" y="2057400"/>
            <a:ext cx="521208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HOW TO INTERPRET IT</a:t>
            </a:r>
          </a:p>
        </p:txBody>
      </p:sp>
      <p:sp>
        <p:nvSpPr>
          <p:cNvPr id="12" name="TextBox 11"/>
          <p:cNvSpPr txBox="1"/>
          <p:nvPr/>
        </p:nvSpPr>
        <p:spPr>
          <a:xfrm>
            <a:off x="6400800" y="2450592"/>
            <a:ext cx="5212080" cy="1097280"/>
          </a:xfrm>
          <a:prstGeom prst="rect">
            <a:avLst/>
          </a:prstGeom>
          <a:noFill/>
        </p:spPr>
        <p:txBody>
          <a:bodyPr wrap="square" lIns="0" rIns="0" tIns="0" bIns="0">
            <a:spAutoFit/>
          </a:bodyPr>
          <a:lstStyle/>
          <a:p>
            <a:pPr>
              <a:spcAft>
                <a:spcPts val="600"/>
              </a:spcAft>
              <a:defRPr sz="1900" b="0">
                <a:solidFill>
                  <a:srgbClr val="F3F1E9"/>
                </a:solidFill>
                <a:latin typeface="Calibri"/>
              </a:defRPr>
            </a:pPr>
            <a:r>
              <a:t>Surface heat is not felt air temperature. City-scale weather is not a ward sensor. Scenarios are indicative; project screening is not planning permission.</a:t>
            </a:r>
          </a:p>
        </p:txBody>
      </p:sp>
      <p:sp>
        <p:nvSpPr>
          <p:cNvPr id="13" name="TextBox 12"/>
          <p:cNvSpPr txBox="1"/>
          <p:nvPr/>
        </p:nvSpPr>
        <p:spPr>
          <a:xfrm>
            <a:off x="502920" y="3968496"/>
            <a:ext cx="525780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DELIVERY + DEMO</a:t>
            </a:r>
          </a:p>
        </p:txBody>
      </p:sp>
      <p:sp>
        <p:nvSpPr>
          <p:cNvPr id="14" name="TextBox 13"/>
          <p:cNvSpPr txBox="1"/>
          <p:nvPr/>
        </p:nvSpPr>
        <p:spPr>
          <a:xfrm>
            <a:off x="502920" y="4361688"/>
            <a:ext cx="5257800" cy="1097280"/>
          </a:xfrm>
          <a:prstGeom prst="rect">
            <a:avLst/>
          </a:prstGeom>
          <a:noFill/>
        </p:spPr>
        <p:txBody>
          <a:bodyPr wrap="square" lIns="0" rIns="0" tIns="0" bIns="0">
            <a:spAutoFit/>
          </a:bodyPr>
          <a:lstStyle/>
          <a:p>
            <a:pPr>
              <a:spcAft>
                <a:spcPts val="600"/>
              </a:spcAft>
              <a:defRPr sz="1800" b="0">
                <a:solidFill>
                  <a:srgbClr val="F3F1E9"/>
                </a:solidFill>
                <a:latin typeface="Calibri"/>
              </a:defRPr>
            </a:pPr>
            <a:r>
              <a:t>Python / Streamlit / XGBoost, serving a frozen data build. Demo: choose a ward → inspect heat → compare a plan → start 3D → download the report.</a:t>
            </a:r>
          </a:p>
        </p:txBody>
      </p:sp>
      <p:sp>
        <p:nvSpPr>
          <p:cNvPr id="15" name="TextBox 14"/>
          <p:cNvSpPr txBox="1"/>
          <p:nvPr/>
        </p:nvSpPr>
        <p:spPr>
          <a:xfrm>
            <a:off x="6400800" y="3968496"/>
            <a:ext cx="5212080" cy="292608"/>
          </a:xfrm>
          <a:prstGeom prst="rect">
            <a:avLst/>
          </a:prstGeom>
          <a:noFill/>
        </p:spPr>
        <p:txBody>
          <a:bodyPr wrap="square" lIns="0" rIns="0" tIns="0" bIns="0">
            <a:spAutoFit/>
          </a:bodyPr>
          <a:lstStyle/>
          <a:p>
            <a:pPr>
              <a:spcAft>
                <a:spcPts val="600"/>
              </a:spcAft>
              <a:defRPr sz="1500" b="1">
                <a:solidFill>
                  <a:srgbClr val="78D8B4"/>
                </a:solidFill>
                <a:latin typeface="Calibri"/>
              </a:defRPr>
            </a:pPr>
            <a:r>
              <a:t>PRIORITY NEXT STEPS</a:t>
            </a:r>
          </a:p>
        </p:txBody>
      </p:sp>
      <p:sp>
        <p:nvSpPr>
          <p:cNvPr id="16" name="TextBox 15"/>
          <p:cNvSpPr txBox="1"/>
          <p:nvPr/>
        </p:nvSpPr>
        <p:spPr>
          <a:xfrm>
            <a:off x="6400800" y="4361688"/>
            <a:ext cx="5212080" cy="1097280"/>
          </a:xfrm>
          <a:prstGeom prst="rect">
            <a:avLst/>
          </a:prstGeom>
          <a:noFill/>
        </p:spPr>
        <p:txBody>
          <a:bodyPr wrap="square" lIns="0" rIns="0" tIns="0" bIns="0">
            <a:spAutoFit/>
          </a:bodyPr>
          <a:lstStyle/>
          <a:p>
            <a:pPr>
              <a:spcAft>
                <a:spcPts val="600"/>
              </a:spcAft>
              <a:defRPr sz="1800" b="0">
                <a:solidFill>
                  <a:srgbClr val="F3F1E9"/>
                </a:solidFill>
                <a:latin typeface="Calibri"/>
              </a:defRPr>
            </a:pPr>
            <a:r>
              <a:t>Obtain ECOSTRESS afternoon imagery and CPCB station data; produce the matched back-test; field-check costs and outcomes. SOLWEIG / InVEST remain future scope.</a:t>
            </a:r>
          </a:p>
        </p:txBody>
      </p:sp>
      <p:sp>
        <p:nvSpPr>
          <p:cNvPr id="17" name="Rectangle 16"/>
          <p:cNvSpPr/>
          <p:nvPr/>
        </p:nvSpPr>
        <p:spPr>
          <a:xfrm>
            <a:off x="502920" y="5925312"/>
            <a:ext cx="11173968" cy="22860"/>
          </a:xfrm>
          <a:prstGeom prst="rect">
            <a:avLst/>
          </a:prstGeom>
          <a:solidFill>
            <a:srgbClr val="FF85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44184"/>
            <a:ext cx="11064240" cy="265176"/>
          </a:xfrm>
          <a:prstGeom prst="rect">
            <a:avLst/>
          </a:prstGeom>
          <a:noFill/>
        </p:spPr>
        <p:txBody>
          <a:bodyPr wrap="square" lIns="0" rIns="0" tIns="0" bIns="0">
            <a:spAutoFit/>
          </a:bodyPr>
          <a:lstStyle/>
          <a:p>
            <a:pPr>
              <a:spcAft>
                <a:spcPts val="600"/>
              </a:spcAft>
              <a:defRPr sz="1600" b="1">
                <a:solidFill>
                  <a:srgbClr val="78D8B4"/>
                </a:solidFill>
                <a:latin typeface="Calibri"/>
              </a:defRPr>
            </a:pPr>
            <a:r>
              <a:t>THE VALUE: make heat decisions spatial, budget-aware, explainable and reviewable.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UHI: Urban Heat Intelligence</dc:title>
  <dc:subject>Five-slide project overview, simulations, results and evidence</dc:subject>
  <dc:creator>UHI Project Team</dc:creator>
  <cp:keywords>Kochi, urban heat, geospatial AI, simulations, HackMe26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