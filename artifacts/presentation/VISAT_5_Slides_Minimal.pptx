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6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72BD9-5C26-24AE-F7CF-76A32F7B4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44E9B-731F-2EFA-1B6B-D033A6B65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D8848-8FFB-3C2A-7ADF-72083E9B7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1ECA-2F54-4115-8377-F6935F007E3D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A5BC5-AB7F-EF3E-1DB3-5F8F4761E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942CE-F025-BF66-EDB2-ADF7FDA1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B71F-6B04-47D3-AA4F-31BBBB33DD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337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E0FF7-AC51-DBB3-D1B9-D8398D7E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1C514-9C5C-AB4E-CFB0-B3BE29724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0D967-BEDA-3300-5123-15F290FB8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1ECA-2F54-4115-8377-F6935F007E3D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EA1E2-6423-AF8E-2B4A-DCA32557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CAA45-3E9E-4D45-B71A-B9C833798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B71F-6B04-47D3-AA4F-31BBBB33DD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108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E00F0-C970-D0EA-6344-06B054C5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2FF9A-16BA-6AAF-4A70-C985A15A0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62E0C-534A-9BBE-7F93-CBF52812A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1ECA-2F54-4115-8377-F6935F007E3D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5D77E-6D53-C39E-C0AF-3D9519BE9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6D000-B29A-745B-4E50-AA0E712A8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B71F-6B04-47D3-AA4F-31BBBB33DD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452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15B7D-5C3C-7117-E790-6493A914D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36BF9-67A3-CF67-4E46-7DC332C75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76DC3-751B-3691-8C73-0DBC2DFC2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54C30-2A77-8649-AC8C-91745E106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1ECA-2F54-4115-8377-F6935F007E3D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2E554-25FF-B090-83DC-309A1018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BCE80-7463-8A1F-C0C1-6E43EDDA8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B71F-6B04-47D3-AA4F-31BBBB33DD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09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7C98-A3E7-02C4-23B7-725100690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34658-1434-4B88-CEA9-39D19943F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817A7-228D-EF5B-D0E7-9D887080A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BA3D56-9038-F438-DB28-DB3E0554E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FE74EB-91F5-7E42-C6D7-4931D04E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2CC780-2574-E466-EC03-000A2CFD8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1ECA-2F54-4115-8377-F6935F007E3D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75F0D3-D449-2384-8B49-17BB9F684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1277C3-F565-A649-B92E-2F536FF5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B71F-6B04-47D3-AA4F-31BBBB33DD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28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74661-B47D-9580-024C-91BA627E1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0B05D0-3B6F-748A-E765-9C71013C9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1ECA-2F54-4115-8377-F6935F007E3D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082C2-F006-AFA9-739F-3552A0A6B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A0D17-D634-1E95-6731-560B0E92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B71F-6B04-47D3-AA4F-31BBBB33DD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078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2F21CA-D213-02B5-6045-9C09D17AC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1ECA-2F54-4115-8377-F6935F007E3D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306176-2EBE-C518-7350-0CFFBC37A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536EF-4EC4-D40A-D481-D2CF85B32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B71F-6B04-47D3-AA4F-31BBBB33DD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2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784A-A772-ED66-226A-263AA7AA5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A0361-5CC8-77D2-8799-C52A00CA1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46198-B65A-DF1F-4C80-82AE3BDE7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42EC4-4658-1934-D8AF-5042E34E5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1ECA-2F54-4115-8377-F6935F007E3D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C988D-756F-DF8B-7BB5-C37417581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B6A89-BD00-DB9B-ECC2-2E923959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B71F-6B04-47D3-AA4F-31BBBB33DD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099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BBA46-57EB-C1BD-7A7B-1231896BD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AA761-B00C-30DB-0C37-519F93307F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FE1FA-4644-F296-7E9D-2EB72E847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2299E-C5A4-6F31-BC77-6231CF21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1ECA-2F54-4115-8377-F6935F007E3D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DE2A9-6D45-7A5C-8020-ABB7FFB38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7BDF7-C0EB-BA81-8CCC-51C064F5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B71F-6B04-47D3-AA4F-31BBBB33DD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860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31412-5806-ABA7-7195-E9BFD12B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285AB-2BA6-986A-EBDD-7E98AFA31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7EC2A-FD2E-5B41-A53C-6FBB9B161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1ECA-2F54-4115-8377-F6935F007E3D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BF0C1-CFC4-A43E-7A9E-AF4EF211E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285D2-A7EA-EF1F-A325-8B01948C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B71F-6B04-47D3-AA4F-31BBBB33DD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740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F90D15-CFA2-26F6-E249-A0DFF62E43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2A61A-736D-6DA7-F069-7DEBD980D1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50D7B-A8A5-79CD-41C4-88D66E211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1ECA-2F54-4115-8377-F6935F007E3D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926C6-1B26-9062-5C1C-73B888AA1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005F3-41B0-8703-DCFA-CC4132681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6B71F-6B04-47D3-AA4F-31BBBB33DD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13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05F69-C4D3-49B7-4F83-EFA8D4BAF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1BCA9-5445-CD87-A3E7-B64ECBB80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09E03-86B6-1C1D-6426-C5C59478DD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81ECA-2F54-4115-8377-F6935F007E3D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28023-47B8-553E-565F-FD02B9503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64E2-D6E3-2CC0-6471-AD096758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6B71F-6B04-47D3-AA4F-31BBBB33DD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20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D3DD19-542D-8ACA-C07D-C3AA687E5074}"/>
              </a:ext>
            </a:extLst>
          </p:cNvPr>
          <p:cNvSpPr txBox="1"/>
          <p:nvPr/>
        </p:nvSpPr>
        <p:spPr>
          <a:xfrm>
            <a:off x="609600" y="381000"/>
            <a:ext cx="1079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64A2A4"/>
                </a:solidFill>
                <a:latin typeface="Calibri" panose="020F0502020204030204" pitchFamily="34" charset="0"/>
              </a:rPr>
              <a:t>VISAT / KOCHI HEAT ACTION PLANNER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864F3B-4A9B-DDFB-B848-4EEB103305C3}"/>
              </a:ext>
            </a:extLst>
          </p:cNvPr>
          <p:cNvSpPr txBox="1"/>
          <p:nvPr/>
        </p:nvSpPr>
        <p:spPr>
          <a:xfrm>
            <a:off x="609600" y="736600"/>
            <a:ext cx="10795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>
                <a:solidFill>
                  <a:srgbClr val="2D1F73"/>
                </a:solidFill>
                <a:latin typeface="Calibri" panose="020F0502020204030204" pitchFamily="34" charset="0"/>
              </a:rPr>
              <a:t>Planning for a cooler Kochi</a:t>
            </a:r>
            <a:endParaRPr lang="en-IN" sz="3100" b="1">
              <a:solidFill>
                <a:srgbClr val="2D1F73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84B0DE-3723-69BC-3808-6B96FF7B760C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 w="12700">
            <a:solidFill>
              <a:srgbClr val="D3D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576496-8D2A-E0F5-BDF1-F915F806A31D}"/>
              </a:ext>
            </a:extLst>
          </p:cNvPr>
          <p:cNvSpPr txBox="1"/>
          <p:nvPr/>
        </p:nvSpPr>
        <p:spPr>
          <a:xfrm>
            <a:off x="609600" y="64770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A0A0A0"/>
                </a:solidFill>
                <a:latin typeface="Calibri" panose="020F0502020204030204" pitchFamily="34" charset="0"/>
              </a:rPr>
              <a:t>VISAT Engineering College | HackMe 26</a:t>
            </a:r>
            <a:endParaRPr lang="en-IN" sz="900">
              <a:solidFill>
                <a:srgbClr val="A0A0A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58F02-18BA-EE4F-A4A8-3B5B6A7C85AF}"/>
              </a:ext>
            </a:extLst>
          </p:cNvPr>
          <p:cNvSpPr txBox="1"/>
          <p:nvPr/>
        </p:nvSpPr>
        <p:spPr>
          <a:xfrm>
            <a:off x="11557000" y="64770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A0A0A0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E3C045-F573-6655-35A3-08C3BB6493A6}"/>
              </a:ext>
            </a:extLst>
          </p:cNvPr>
          <p:cNvSpPr txBox="1"/>
          <p:nvPr/>
        </p:nvSpPr>
        <p:spPr>
          <a:xfrm>
            <a:off x="609600" y="2032000"/>
            <a:ext cx="558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404040"/>
                </a:solidFill>
                <a:latin typeface="Calibri" panose="020F0502020204030204" pitchFamily="34" charset="0"/>
              </a:rPr>
              <a:t>A data-driven heat action planner</a:t>
            </a:r>
            <a:endParaRPr lang="en-IN" sz="2500" b="1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DE71FA-4353-75FC-3F0D-182F65C17A16}"/>
              </a:ext>
            </a:extLst>
          </p:cNvPr>
          <p:cNvSpPr txBox="1"/>
          <p:nvPr/>
        </p:nvSpPr>
        <p:spPr>
          <a:xfrm>
            <a:off x="609600" y="3073400"/>
            <a:ext cx="5461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>
                <a:solidFill>
                  <a:srgbClr val="404040"/>
                </a:solidFill>
                <a:latin typeface="Calibri" panose="020F0502020204030204" pitchFamily="34" charset="0"/>
              </a:rPr>
              <a:t>VISAT helps city teams find hot areas, compare cooling actions and screen new projects.</a:t>
            </a:r>
            <a:endParaRPr lang="en-IN" sz="20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67A7CF-FF48-37EE-7084-8935FA710384}"/>
              </a:ext>
            </a:extLst>
          </p:cNvPr>
          <p:cNvSpPr/>
          <p:nvPr/>
        </p:nvSpPr>
        <p:spPr>
          <a:xfrm>
            <a:off x="609600" y="4826000"/>
            <a:ext cx="5461000" cy="7874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71AF31-10FC-EC80-C984-525003E61CD5}"/>
              </a:ext>
            </a:extLst>
          </p:cNvPr>
          <p:cNvSpPr txBox="1"/>
          <p:nvPr/>
        </p:nvSpPr>
        <p:spPr>
          <a:xfrm>
            <a:off x="850900" y="5054600"/>
            <a:ext cx="495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D1F73"/>
                </a:solidFill>
                <a:latin typeface="Calibri" panose="020F0502020204030204" pitchFamily="34" charset="0"/>
              </a:rPr>
              <a:t>23 scenes  •  74 wards  •  100 m grid</a:t>
            </a:r>
            <a:endParaRPr lang="en-IN" sz="1700" b="1">
              <a:solidFill>
                <a:srgbClr val="2D1F73"/>
              </a:solidFill>
              <a:latin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266F69-0FD5-1A97-4DB6-901AF0BA120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500" y="2432447"/>
            <a:ext cx="4635500" cy="318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93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495B96-2E26-D394-31F7-AA91CFCB05D6}"/>
              </a:ext>
            </a:extLst>
          </p:cNvPr>
          <p:cNvSpPr txBox="1"/>
          <p:nvPr/>
        </p:nvSpPr>
        <p:spPr>
          <a:xfrm>
            <a:off x="609600" y="381000"/>
            <a:ext cx="1079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64A2A4"/>
                </a:solidFill>
                <a:latin typeface="Calibri" panose="020F0502020204030204" pitchFamily="34" charset="0"/>
              </a:rPr>
              <a:t>VISAT / KOCHI HEAT ACTION PLANNER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EF1B2-C985-4179-FDC7-AC6DFF73CE91}"/>
              </a:ext>
            </a:extLst>
          </p:cNvPr>
          <p:cNvSpPr txBox="1"/>
          <p:nvPr/>
        </p:nvSpPr>
        <p:spPr>
          <a:xfrm>
            <a:off x="609600" y="736600"/>
            <a:ext cx="10795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3100" b="1">
                <a:solidFill>
                  <a:srgbClr val="2D1F73"/>
                </a:solidFill>
                <a:latin typeface="Calibri" panose="020F0502020204030204" pitchFamily="34" charset="0"/>
              </a:rPr>
              <a:t>From satellite data to a decision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4BA000-C82E-FB86-DBA0-AA3DB736D489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 w="12700">
            <a:solidFill>
              <a:srgbClr val="D3D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4FA0521-7DCB-6847-195B-693689F4DDA7}"/>
              </a:ext>
            </a:extLst>
          </p:cNvPr>
          <p:cNvSpPr txBox="1"/>
          <p:nvPr/>
        </p:nvSpPr>
        <p:spPr>
          <a:xfrm>
            <a:off x="609600" y="64770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A0A0A0"/>
                </a:solidFill>
                <a:latin typeface="Calibri" panose="020F0502020204030204" pitchFamily="34" charset="0"/>
              </a:rPr>
              <a:t>VISAT Engineering College | HackMe 26</a:t>
            </a:r>
            <a:endParaRPr lang="en-IN" sz="900">
              <a:solidFill>
                <a:srgbClr val="A0A0A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B28A2-BCA2-2670-6594-9993AD2D52CB}"/>
              </a:ext>
            </a:extLst>
          </p:cNvPr>
          <p:cNvSpPr txBox="1"/>
          <p:nvPr/>
        </p:nvSpPr>
        <p:spPr>
          <a:xfrm>
            <a:off x="11557000" y="64770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A0A0A0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CCB37F-7814-6866-2A27-BEF21C7BF9B4}"/>
              </a:ext>
            </a:extLst>
          </p:cNvPr>
          <p:cNvSpPr/>
          <p:nvPr/>
        </p:nvSpPr>
        <p:spPr>
          <a:xfrm>
            <a:off x="698500" y="2184400"/>
            <a:ext cx="2286000" cy="2921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2BF5D2-3429-93DD-18D5-2C024654B9E2}"/>
              </a:ext>
            </a:extLst>
          </p:cNvPr>
          <p:cNvSpPr/>
          <p:nvPr/>
        </p:nvSpPr>
        <p:spPr>
          <a:xfrm>
            <a:off x="927100" y="2451100"/>
            <a:ext cx="457200" cy="457200"/>
          </a:xfrm>
          <a:prstGeom prst="roundRect">
            <a:avLst/>
          </a:prstGeom>
          <a:solidFill>
            <a:srgbClr val="64A2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CFEF68-E61F-1948-05D1-DFA49CB001D8}"/>
              </a:ext>
            </a:extLst>
          </p:cNvPr>
          <p:cNvSpPr txBox="1"/>
          <p:nvPr/>
        </p:nvSpPr>
        <p:spPr>
          <a:xfrm>
            <a:off x="1079500" y="2565400"/>
            <a:ext cx="17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0C2FB7-77B2-7E39-E1B6-F72B0DE959CC}"/>
              </a:ext>
            </a:extLst>
          </p:cNvPr>
          <p:cNvSpPr txBox="1"/>
          <p:nvPr/>
        </p:nvSpPr>
        <p:spPr>
          <a:xfrm>
            <a:off x="927100" y="3200400"/>
            <a:ext cx="190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100" b="1">
                <a:solidFill>
                  <a:srgbClr val="2D1F73"/>
                </a:solidFill>
                <a:latin typeface="Calibri" panose="020F0502020204030204" pitchFamily="34" charset="0"/>
              </a:rPr>
              <a:t>Observe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9E3DF8-AED3-4950-2828-CC4024DDC32A}"/>
              </a:ext>
            </a:extLst>
          </p:cNvPr>
          <p:cNvSpPr txBox="1"/>
          <p:nvPr/>
        </p:nvSpPr>
        <p:spPr>
          <a:xfrm>
            <a:off x="927100" y="3835400"/>
            <a:ext cx="1841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Satellite, weather and land-cover data</a:t>
            </a:r>
            <a:endParaRPr lang="en-IN" sz="15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38CEC2-47B0-1EAF-FA85-14706690733F}"/>
              </a:ext>
            </a:extLst>
          </p:cNvPr>
          <p:cNvSpPr/>
          <p:nvPr/>
        </p:nvSpPr>
        <p:spPr>
          <a:xfrm>
            <a:off x="3492500" y="2184400"/>
            <a:ext cx="2286000" cy="2921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EE5073-50EA-7438-2E2D-B330EBED537D}"/>
              </a:ext>
            </a:extLst>
          </p:cNvPr>
          <p:cNvSpPr/>
          <p:nvPr/>
        </p:nvSpPr>
        <p:spPr>
          <a:xfrm>
            <a:off x="3721100" y="2451100"/>
            <a:ext cx="457200" cy="457200"/>
          </a:xfrm>
          <a:prstGeom prst="roundRect">
            <a:avLst/>
          </a:prstGeom>
          <a:solidFill>
            <a:srgbClr val="64A2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9D63A4-28B8-1F6B-3D6B-CC55AB714A4F}"/>
              </a:ext>
            </a:extLst>
          </p:cNvPr>
          <p:cNvSpPr txBox="1"/>
          <p:nvPr/>
        </p:nvSpPr>
        <p:spPr>
          <a:xfrm>
            <a:off x="3873500" y="2565400"/>
            <a:ext cx="17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F3E583-668D-12CE-9CCB-5190A68AE1A7}"/>
              </a:ext>
            </a:extLst>
          </p:cNvPr>
          <p:cNvSpPr txBox="1"/>
          <p:nvPr/>
        </p:nvSpPr>
        <p:spPr>
          <a:xfrm>
            <a:off x="3721100" y="3200400"/>
            <a:ext cx="190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100" b="1">
                <a:solidFill>
                  <a:srgbClr val="2D1F73"/>
                </a:solidFill>
                <a:latin typeface="Calibri" panose="020F0502020204030204" pitchFamily="34" charset="0"/>
              </a:rPr>
              <a:t>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6A2B6F-3FE2-DDC1-FAEC-249BE7E963F1}"/>
              </a:ext>
            </a:extLst>
          </p:cNvPr>
          <p:cNvSpPr txBox="1"/>
          <p:nvPr/>
        </p:nvSpPr>
        <p:spPr>
          <a:xfrm>
            <a:off x="3721100" y="3835400"/>
            <a:ext cx="18415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Physics-informed XGBoost on a 100 m grid</a:t>
            </a:r>
            <a:endParaRPr lang="en-IN" sz="15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49BBFC-E9B0-4FB2-0D3B-00B1E0E295C7}"/>
              </a:ext>
            </a:extLst>
          </p:cNvPr>
          <p:cNvSpPr/>
          <p:nvPr/>
        </p:nvSpPr>
        <p:spPr>
          <a:xfrm>
            <a:off x="6286500" y="2184400"/>
            <a:ext cx="2286000" cy="2921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DB9361A-C30F-C2A0-4511-579CD8B75414}"/>
              </a:ext>
            </a:extLst>
          </p:cNvPr>
          <p:cNvSpPr/>
          <p:nvPr/>
        </p:nvSpPr>
        <p:spPr>
          <a:xfrm>
            <a:off x="6515100" y="2451100"/>
            <a:ext cx="457200" cy="457200"/>
          </a:xfrm>
          <a:prstGeom prst="roundRect">
            <a:avLst/>
          </a:prstGeom>
          <a:solidFill>
            <a:srgbClr val="64A2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44F3E2-56F0-ED82-8A98-2CB2AD4CE431}"/>
              </a:ext>
            </a:extLst>
          </p:cNvPr>
          <p:cNvSpPr txBox="1"/>
          <p:nvPr/>
        </p:nvSpPr>
        <p:spPr>
          <a:xfrm>
            <a:off x="6667500" y="2565400"/>
            <a:ext cx="17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D8D42B-CB28-F4CC-04BB-8478BCCA689A}"/>
              </a:ext>
            </a:extLst>
          </p:cNvPr>
          <p:cNvSpPr txBox="1"/>
          <p:nvPr/>
        </p:nvSpPr>
        <p:spPr>
          <a:xfrm>
            <a:off x="6515100" y="3200400"/>
            <a:ext cx="190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100" b="1">
                <a:solidFill>
                  <a:srgbClr val="2D1F73"/>
                </a:solidFill>
                <a:latin typeface="Calibri" panose="020F0502020204030204" pitchFamily="34" charset="0"/>
              </a:rPr>
              <a:t>Compare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1CE71F-43A1-4EEC-607F-8C304E9A690C}"/>
              </a:ext>
            </a:extLst>
          </p:cNvPr>
          <p:cNvSpPr txBox="1"/>
          <p:nvPr/>
        </p:nvSpPr>
        <p:spPr>
          <a:xfrm>
            <a:off x="6515100" y="3835400"/>
            <a:ext cx="1841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Trees, cool roofs, ponds and pavements</a:t>
            </a:r>
            <a:endParaRPr lang="en-IN" sz="15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C3AAC0-E1F4-75C6-D6D0-27626CAE4C87}"/>
              </a:ext>
            </a:extLst>
          </p:cNvPr>
          <p:cNvSpPr/>
          <p:nvPr/>
        </p:nvSpPr>
        <p:spPr>
          <a:xfrm>
            <a:off x="9080500" y="2184400"/>
            <a:ext cx="2286000" cy="2921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17D0A75-53E6-F997-9C43-5720511F3E72}"/>
              </a:ext>
            </a:extLst>
          </p:cNvPr>
          <p:cNvSpPr/>
          <p:nvPr/>
        </p:nvSpPr>
        <p:spPr>
          <a:xfrm>
            <a:off x="9309100" y="2451100"/>
            <a:ext cx="457200" cy="457200"/>
          </a:xfrm>
          <a:prstGeom prst="roundRect">
            <a:avLst/>
          </a:prstGeom>
          <a:solidFill>
            <a:srgbClr val="64A2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4536EC-B866-A70E-158B-A469D48A6466}"/>
              </a:ext>
            </a:extLst>
          </p:cNvPr>
          <p:cNvSpPr txBox="1"/>
          <p:nvPr/>
        </p:nvSpPr>
        <p:spPr>
          <a:xfrm>
            <a:off x="9461500" y="2565400"/>
            <a:ext cx="17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3A4972-CA47-08E8-D2A3-E7C8E2E084C2}"/>
              </a:ext>
            </a:extLst>
          </p:cNvPr>
          <p:cNvSpPr txBox="1"/>
          <p:nvPr/>
        </p:nvSpPr>
        <p:spPr>
          <a:xfrm>
            <a:off x="9309100" y="3200400"/>
            <a:ext cx="190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100" b="1">
                <a:solidFill>
                  <a:srgbClr val="2D1F73"/>
                </a:solidFill>
                <a:latin typeface="Calibri" panose="020F0502020204030204" pitchFamily="34" charset="0"/>
              </a:rPr>
              <a:t>Prioritise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23537F-1EB6-7BD6-5C06-889E23841B16}"/>
              </a:ext>
            </a:extLst>
          </p:cNvPr>
          <p:cNvSpPr txBox="1"/>
          <p:nvPr/>
        </p:nvSpPr>
        <p:spPr>
          <a:xfrm>
            <a:off x="9309100" y="3835400"/>
            <a:ext cx="1841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Calibri" panose="020F0502020204030204" pitchFamily="34" charset="0"/>
              </a:rPr>
              <a:t>Choose the best cooling per rupee</a:t>
            </a:r>
            <a:endParaRPr lang="en-IN" sz="15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A8578F-D091-8DD6-C571-7AD4DFED5FD8}"/>
              </a:ext>
            </a:extLst>
          </p:cNvPr>
          <p:cNvSpPr txBox="1"/>
          <p:nvPr/>
        </p:nvSpPr>
        <p:spPr>
          <a:xfrm>
            <a:off x="698500" y="5689600"/>
            <a:ext cx="10160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64A2A4"/>
                </a:solidFill>
                <a:latin typeface="Calibri" panose="020F0502020204030204" pitchFamily="34" charset="0"/>
              </a:rPr>
              <a:t>The goal: turn a heat map into a practical ward-level plan.</a:t>
            </a:r>
            <a:endParaRPr lang="en-IN" sz="1900" b="1">
              <a:solidFill>
                <a:srgbClr val="64A2A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174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456726-144D-9B91-E9DE-05B538B44459}"/>
              </a:ext>
            </a:extLst>
          </p:cNvPr>
          <p:cNvSpPr txBox="1"/>
          <p:nvPr/>
        </p:nvSpPr>
        <p:spPr>
          <a:xfrm>
            <a:off x="609600" y="381000"/>
            <a:ext cx="1079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64A2A4"/>
                </a:solidFill>
                <a:latin typeface="Calibri" panose="020F0502020204030204" pitchFamily="34" charset="0"/>
              </a:rPr>
              <a:t>VISAT / KOCHI HEAT ACTION PLANNER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28DB9-7D8C-345D-1B2E-46A905BBFA81}"/>
              </a:ext>
            </a:extLst>
          </p:cNvPr>
          <p:cNvSpPr txBox="1"/>
          <p:nvPr/>
        </p:nvSpPr>
        <p:spPr>
          <a:xfrm>
            <a:off x="609600" y="736600"/>
            <a:ext cx="10795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>
                <a:solidFill>
                  <a:srgbClr val="2D1F73"/>
                </a:solidFill>
                <a:latin typeface="Calibri" panose="020F0502020204030204" pitchFamily="34" charset="0"/>
              </a:rPr>
              <a:t>What the app lets a planner do</a:t>
            </a:r>
            <a:endParaRPr lang="en-IN" sz="3100" b="1">
              <a:solidFill>
                <a:srgbClr val="2D1F73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C0534A-C59F-EA19-E3D3-E39BC41BCA0A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 w="12700">
            <a:solidFill>
              <a:srgbClr val="D3D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A37C7B9-8D62-60CA-0755-22F103F965DF}"/>
              </a:ext>
            </a:extLst>
          </p:cNvPr>
          <p:cNvSpPr txBox="1"/>
          <p:nvPr/>
        </p:nvSpPr>
        <p:spPr>
          <a:xfrm>
            <a:off x="609600" y="64770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A0A0A0"/>
                </a:solidFill>
                <a:latin typeface="Calibri" panose="020F0502020204030204" pitchFamily="34" charset="0"/>
              </a:rPr>
              <a:t>VISAT Engineering College | HackMe 26</a:t>
            </a:r>
            <a:endParaRPr lang="en-IN" sz="900">
              <a:solidFill>
                <a:srgbClr val="A0A0A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1EE09-335F-7752-F1AA-06F70E713FC5}"/>
              </a:ext>
            </a:extLst>
          </p:cNvPr>
          <p:cNvSpPr txBox="1"/>
          <p:nvPr/>
        </p:nvSpPr>
        <p:spPr>
          <a:xfrm>
            <a:off x="11557000" y="64770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A0A0A0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5696BA-21A6-ECA7-CDE0-94E75065124F}"/>
              </a:ext>
            </a:extLst>
          </p:cNvPr>
          <p:cNvSpPr txBox="1"/>
          <p:nvPr/>
        </p:nvSpPr>
        <p:spPr>
          <a:xfrm>
            <a:off x="660400" y="5829300"/>
            <a:ext cx="508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D1F73"/>
                </a:solidFill>
                <a:latin typeface="Calibri" panose="020F0502020204030204" pitchFamily="34" charset="0"/>
              </a:rPr>
              <a:t>Budget planner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1C8695-B037-2B47-75CB-4F50507AFF93}"/>
              </a:ext>
            </a:extLst>
          </p:cNvPr>
          <p:cNvSpPr txBox="1"/>
          <p:nvPr/>
        </p:nvSpPr>
        <p:spPr>
          <a:xfrm>
            <a:off x="6324600" y="5829300"/>
            <a:ext cx="508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2D1F73"/>
                </a:solidFill>
                <a:latin typeface="Calibri" panose="020F0502020204030204" pitchFamily="34" charset="0"/>
              </a:rPr>
              <a:t>Project heat check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73788D-BD41-8EF0-DBDE-EDFA243D9AA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905000"/>
            <a:ext cx="5207000" cy="381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0D17A9-53E8-2FAE-2EDC-1B8AD66569F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905000"/>
            <a:ext cx="5207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803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A9B0BC-12ED-148F-5C5E-B4E9F5E26897}"/>
              </a:ext>
            </a:extLst>
          </p:cNvPr>
          <p:cNvSpPr txBox="1"/>
          <p:nvPr/>
        </p:nvSpPr>
        <p:spPr>
          <a:xfrm>
            <a:off x="609600" y="381000"/>
            <a:ext cx="1079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64A2A4"/>
                </a:solidFill>
                <a:latin typeface="Calibri" panose="020F0502020204030204" pitchFamily="34" charset="0"/>
              </a:rPr>
              <a:t>VISAT / KOCHI HEAT ACTION PLANNER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69AE6-A1A3-E835-E9A7-7BF5354F17FB}"/>
              </a:ext>
            </a:extLst>
          </p:cNvPr>
          <p:cNvSpPr txBox="1"/>
          <p:nvPr/>
        </p:nvSpPr>
        <p:spPr>
          <a:xfrm>
            <a:off x="609600" y="736600"/>
            <a:ext cx="10795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>
                <a:solidFill>
                  <a:srgbClr val="2D1F73"/>
                </a:solidFill>
                <a:latin typeface="Calibri" panose="020F0502020204030204" pitchFamily="34" charset="0"/>
              </a:rPr>
              <a:t>Current results</a:t>
            </a:r>
            <a:endParaRPr lang="en-IN" sz="3100" b="1">
              <a:solidFill>
                <a:srgbClr val="2D1F73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0B20E7D-D72F-B263-3BE2-2FE51D26A80D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 w="12700">
            <a:solidFill>
              <a:srgbClr val="D3D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3ED9E8E-0F72-8FA5-7993-652E7A68BAFB}"/>
              </a:ext>
            </a:extLst>
          </p:cNvPr>
          <p:cNvSpPr txBox="1"/>
          <p:nvPr/>
        </p:nvSpPr>
        <p:spPr>
          <a:xfrm>
            <a:off x="609600" y="64770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A0A0A0"/>
                </a:solidFill>
                <a:latin typeface="Calibri" panose="020F0502020204030204" pitchFamily="34" charset="0"/>
              </a:rPr>
              <a:t>VISAT Engineering College | HackMe 26</a:t>
            </a:r>
            <a:endParaRPr lang="en-IN" sz="900">
              <a:solidFill>
                <a:srgbClr val="A0A0A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BF8891-30F1-97F8-63B7-65F818E1353D}"/>
              </a:ext>
            </a:extLst>
          </p:cNvPr>
          <p:cNvSpPr txBox="1"/>
          <p:nvPr/>
        </p:nvSpPr>
        <p:spPr>
          <a:xfrm>
            <a:off x="11557000" y="64770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A0A0A0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9505BE-B951-3056-BDB5-99E081A57533}"/>
              </a:ext>
            </a:extLst>
          </p:cNvPr>
          <p:cNvSpPr txBox="1"/>
          <p:nvPr/>
        </p:nvSpPr>
        <p:spPr>
          <a:xfrm>
            <a:off x="698500" y="1905000"/>
            <a:ext cx="533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900" b="1">
                <a:solidFill>
                  <a:srgbClr val="2D1F73"/>
                </a:solidFill>
                <a:latin typeface="Calibri" panose="020F0502020204030204" pitchFamily="34" charset="0"/>
              </a:rPr>
              <a:t>Spatial cross-validation (R²)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BB4AE0-68E5-6DD8-FC19-5444707C7C63}"/>
              </a:ext>
            </a:extLst>
          </p:cNvPr>
          <p:cNvSpPr txBox="1"/>
          <p:nvPr/>
        </p:nvSpPr>
        <p:spPr>
          <a:xfrm>
            <a:off x="698500" y="26035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>
                <a:solidFill>
                  <a:srgbClr val="404040"/>
                </a:solidFill>
                <a:latin typeface="Calibri" panose="020F0502020204030204" pitchFamily="34" charset="0"/>
              </a:rPr>
              <a:t>Physics-informed XGBoost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877A27-7676-0024-8B07-F45CCF6E8C3A}"/>
              </a:ext>
            </a:extLst>
          </p:cNvPr>
          <p:cNvSpPr/>
          <p:nvPr/>
        </p:nvSpPr>
        <p:spPr>
          <a:xfrm>
            <a:off x="3873500" y="2641600"/>
            <a:ext cx="3810000" cy="2286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F0195C-9545-CE4F-F760-FA9032F3BBB2}"/>
              </a:ext>
            </a:extLst>
          </p:cNvPr>
          <p:cNvSpPr/>
          <p:nvPr/>
        </p:nvSpPr>
        <p:spPr>
          <a:xfrm>
            <a:off x="3873500" y="2641600"/>
            <a:ext cx="3158490" cy="228600"/>
          </a:xfrm>
          <a:prstGeom prst="rect">
            <a:avLst/>
          </a:prstGeom>
          <a:solidFill>
            <a:srgbClr val="64A2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64C3E2-2E6B-3BF0-1FD3-5C8129CE4E45}"/>
              </a:ext>
            </a:extLst>
          </p:cNvPr>
          <p:cNvSpPr txBox="1"/>
          <p:nvPr/>
        </p:nvSpPr>
        <p:spPr>
          <a:xfrm>
            <a:off x="7874000" y="2590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b="1">
                <a:solidFill>
                  <a:srgbClr val="2D1F73"/>
                </a:solidFill>
                <a:latin typeface="Calibri" panose="020F0502020204030204" pitchFamily="34" charset="0"/>
              </a:rPr>
              <a:t>0.829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FED20E-C0A3-AC68-BD93-BC2C44ACFE74}"/>
              </a:ext>
            </a:extLst>
          </p:cNvPr>
          <p:cNvSpPr txBox="1"/>
          <p:nvPr/>
        </p:nvSpPr>
        <p:spPr>
          <a:xfrm>
            <a:off x="698500" y="34290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>
                <a:solidFill>
                  <a:srgbClr val="404040"/>
                </a:solidFill>
                <a:latin typeface="Calibri" panose="020F0502020204030204" pitchFamily="34" charset="0"/>
              </a:rPr>
              <a:t>Unconstrained XGBoost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4B13F3-556D-DB7E-1BCF-EA88AFEE0CC1}"/>
              </a:ext>
            </a:extLst>
          </p:cNvPr>
          <p:cNvSpPr/>
          <p:nvPr/>
        </p:nvSpPr>
        <p:spPr>
          <a:xfrm>
            <a:off x="3873500" y="3467100"/>
            <a:ext cx="3810000" cy="2286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EBA12A-96ED-5854-164A-766A985B300B}"/>
              </a:ext>
            </a:extLst>
          </p:cNvPr>
          <p:cNvSpPr/>
          <p:nvPr/>
        </p:nvSpPr>
        <p:spPr>
          <a:xfrm>
            <a:off x="3873500" y="3467100"/>
            <a:ext cx="3196590" cy="228600"/>
          </a:xfrm>
          <a:prstGeom prst="rect">
            <a:avLst/>
          </a:prstGeom>
          <a:solidFill>
            <a:srgbClr val="2D1F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C799B2-74AB-F720-B7F6-B2BB244B901E}"/>
              </a:ext>
            </a:extLst>
          </p:cNvPr>
          <p:cNvSpPr txBox="1"/>
          <p:nvPr/>
        </p:nvSpPr>
        <p:spPr>
          <a:xfrm>
            <a:off x="7874000" y="34163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b="1">
                <a:solidFill>
                  <a:srgbClr val="2D1F73"/>
                </a:solidFill>
                <a:latin typeface="Calibri" panose="020F0502020204030204" pitchFamily="34" charset="0"/>
              </a:rPr>
              <a:t>0.839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B8F33B-107E-6162-E9FC-CD2C169469DC}"/>
              </a:ext>
            </a:extLst>
          </p:cNvPr>
          <p:cNvSpPr txBox="1"/>
          <p:nvPr/>
        </p:nvSpPr>
        <p:spPr>
          <a:xfrm>
            <a:off x="698500" y="42545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>
                <a:solidFill>
                  <a:srgbClr val="404040"/>
                </a:solidFill>
                <a:latin typeface="Calibri" panose="020F0502020204030204" pitchFamily="34" charset="0"/>
              </a:rPr>
              <a:t>Linear baseline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40DA21-4E2C-592F-4565-2548C0F84801}"/>
              </a:ext>
            </a:extLst>
          </p:cNvPr>
          <p:cNvSpPr/>
          <p:nvPr/>
        </p:nvSpPr>
        <p:spPr>
          <a:xfrm>
            <a:off x="3873500" y="4292600"/>
            <a:ext cx="3810000" cy="2286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44511D-6D28-E086-616B-28243BA53986}"/>
              </a:ext>
            </a:extLst>
          </p:cNvPr>
          <p:cNvSpPr/>
          <p:nvPr/>
        </p:nvSpPr>
        <p:spPr>
          <a:xfrm>
            <a:off x="3873500" y="4292600"/>
            <a:ext cx="2346960" cy="228600"/>
          </a:xfrm>
          <a:prstGeom prst="rect">
            <a:avLst/>
          </a:prstGeom>
          <a:solidFill>
            <a:srgbClr val="2D1F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3CCB3A-584F-E706-55C1-7B9C5500865E}"/>
              </a:ext>
            </a:extLst>
          </p:cNvPr>
          <p:cNvSpPr txBox="1"/>
          <p:nvPr/>
        </p:nvSpPr>
        <p:spPr>
          <a:xfrm>
            <a:off x="7874000" y="4241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b="1">
                <a:solidFill>
                  <a:srgbClr val="2D1F73"/>
                </a:solidFill>
                <a:latin typeface="Calibri" panose="020F0502020204030204" pitchFamily="34" charset="0"/>
              </a:rPr>
              <a:t>0.616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C19995-E128-9804-191A-A7B4B435C1DA}"/>
              </a:ext>
            </a:extLst>
          </p:cNvPr>
          <p:cNvSpPr/>
          <p:nvPr/>
        </p:nvSpPr>
        <p:spPr>
          <a:xfrm>
            <a:off x="698500" y="5219700"/>
            <a:ext cx="10414000" cy="698500"/>
          </a:xfrm>
          <a:prstGeom prst="rect">
            <a:avLst/>
          </a:prstGeom>
          <a:solidFill>
            <a:srgbClr val="F3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D3C734-A1ED-9356-878A-202FCB0991C1}"/>
              </a:ext>
            </a:extLst>
          </p:cNvPr>
          <p:cNvSpPr txBox="1"/>
          <p:nvPr/>
        </p:nvSpPr>
        <p:spPr>
          <a:xfrm>
            <a:off x="914400" y="54356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404040"/>
                </a:solidFill>
                <a:latin typeface="Calibri" panose="020F0502020204030204" pitchFamily="34" charset="0"/>
              </a:rPr>
              <a:t>Back-test: r = 0.354  |  MAE = 1.396 °C  |  8,000 changed cells</a:t>
            </a:r>
            <a:endParaRPr lang="en-IN" b="1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D4233C-659E-A1D9-6D7A-50652809FC4F}"/>
              </a:ext>
            </a:extLst>
          </p:cNvPr>
          <p:cNvSpPr txBox="1"/>
          <p:nvPr/>
        </p:nvSpPr>
        <p:spPr>
          <a:xfrm>
            <a:off x="698500" y="60452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A0A0A0"/>
                </a:solidFill>
                <a:latin typeface="Calibri" panose="020F0502020204030204" pitchFamily="34" charset="0"/>
              </a:rPr>
              <a:t>ECOSTRESS and CPCB checks are still pending in the saved build.</a:t>
            </a:r>
            <a:endParaRPr lang="en-IN" sz="1400">
              <a:solidFill>
                <a:srgbClr val="A0A0A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243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FA7206-1D12-C8A4-B13A-85FCCD01C6E6}"/>
              </a:ext>
            </a:extLst>
          </p:cNvPr>
          <p:cNvSpPr txBox="1"/>
          <p:nvPr/>
        </p:nvSpPr>
        <p:spPr>
          <a:xfrm>
            <a:off x="609600" y="381000"/>
            <a:ext cx="1079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64A2A4"/>
                </a:solidFill>
                <a:latin typeface="Calibri" panose="020F0502020204030204" pitchFamily="34" charset="0"/>
              </a:rPr>
              <a:t>VISAT / KOCHI HEAT ACTION PLANNER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2DD019-BA55-E823-479B-FBC10216906B}"/>
              </a:ext>
            </a:extLst>
          </p:cNvPr>
          <p:cNvSpPr txBox="1"/>
          <p:nvPr/>
        </p:nvSpPr>
        <p:spPr>
          <a:xfrm>
            <a:off x="609600" y="736600"/>
            <a:ext cx="10795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>
                <a:solidFill>
                  <a:srgbClr val="2D1F73"/>
                </a:solidFill>
                <a:latin typeface="Calibri" panose="020F0502020204030204" pitchFamily="34" charset="0"/>
              </a:rPr>
              <a:t>A useful prototype, ready for a careful pilot</a:t>
            </a:r>
            <a:endParaRPr lang="en-IN" sz="3100" b="1">
              <a:solidFill>
                <a:srgbClr val="2D1F73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3736265-23CF-CB3C-D2E8-B6A4ACB46FC1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 w="12700">
            <a:solidFill>
              <a:srgbClr val="D3D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79EFF13-B51A-DC4B-708A-3969B38AF9E7}"/>
              </a:ext>
            </a:extLst>
          </p:cNvPr>
          <p:cNvSpPr txBox="1"/>
          <p:nvPr/>
        </p:nvSpPr>
        <p:spPr>
          <a:xfrm>
            <a:off x="609600" y="64770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A0A0A0"/>
                </a:solidFill>
                <a:latin typeface="Calibri" panose="020F0502020204030204" pitchFamily="34" charset="0"/>
              </a:rPr>
              <a:t>VISAT Engineering College | HackMe 26</a:t>
            </a:r>
            <a:endParaRPr lang="en-IN" sz="900">
              <a:solidFill>
                <a:srgbClr val="A0A0A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368714-2785-AC7D-6517-F60E156E20B6}"/>
              </a:ext>
            </a:extLst>
          </p:cNvPr>
          <p:cNvSpPr txBox="1"/>
          <p:nvPr/>
        </p:nvSpPr>
        <p:spPr>
          <a:xfrm>
            <a:off x="11557000" y="64770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>
                <a:solidFill>
                  <a:srgbClr val="A0A0A0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ECE736-DF17-B7FF-8BA0-5182990D82F8}"/>
              </a:ext>
            </a:extLst>
          </p:cNvPr>
          <p:cNvSpPr txBox="1"/>
          <p:nvPr/>
        </p:nvSpPr>
        <p:spPr>
          <a:xfrm>
            <a:off x="698500" y="2006600"/>
            <a:ext cx="9779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404040"/>
                </a:solidFill>
                <a:latin typeface="Calibri" panose="020F0502020204030204" pitchFamily="34" charset="0"/>
              </a:rPr>
              <a:t>VISAT connects heat exposure, budgets and project screening in one workflow.</a:t>
            </a:r>
            <a:endParaRPr lang="en-IN" sz="2500" b="1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A04D80-B4FD-FF61-68E2-6172AC5B95BE}"/>
              </a:ext>
            </a:extLst>
          </p:cNvPr>
          <p:cNvSpPr/>
          <p:nvPr/>
        </p:nvSpPr>
        <p:spPr>
          <a:xfrm>
            <a:off x="736600" y="3238500"/>
            <a:ext cx="152400" cy="152400"/>
          </a:xfrm>
          <a:prstGeom prst="roundRect">
            <a:avLst/>
          </a:prstGeom>
          <a:solidFill>
            <a:srgbClr val="64A2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E3202B-E849-6E7B-D556-C4DE0A385565}"/>
              </a:ext>
            </a:extLst>
          </p:cNvPr>
          <p:cNvSpPr txBox="1"/>
          <p:nvPr/>
        </p:nvSpPr>
        <p:spPr>
          <a:xfrm>
            <a:off x="1079500" y="3175000"/>
            <a:ext cx="965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>
                <a:solidFill>
                  <a:srgbClr val="404040"/>
                </a:solidFill>
                <a:latin typeface="Calibri" panose="020F0502020204030204" pitchFamily="34" charset="0"/>
              </a:rPr>
              <a:t>Verify site ownership and permissions.</a:t>
            </a:r>
            <a:endParaRPr lang="en-IN" sz="20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5CE6E6-E6E7-9302-A44A-F6F1CC9BBC61}"/>
              </a:ext>
            </a:extLst>
          </p:cNvPr>
          <p:cNvSpPr/>
          <p:nvPr/>
        </p:nvSpPr>
        <p:spPr>
          <a:xfrm>
            <a:off x="736600" y="3848100"/>
            <a:ext cx="152400" cy="152400"/>
          </a:xfrm>
          <a:prstGeom prst="roundRect">
            <a:avLst/>
          </a:prstGeom>
          <a:solidFill>
            <a:srgbClr val="64A2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8AA227-BE0F-54EA-3C57-5F5E588F52FC}"/>
              </a:ext>
            </a:extLst>
          </p:cNvPr>
          <p:cNvSpPr txBox="1"/>
          <p:nvPr/>
        </p:nvSpPr>
        <p:spPr>
          <a:xfrm>
            <a:off x="1079500" y="3784600"/>
            <a:ext cx="965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>
                <a:solidFill>
                  <a:srgbClr val="404040"/>
                </a:solidFill>
                <a:latin typeface="Calibri" panose="020F0502020204030204" pitchFamily="34" charset="0"/>
              </a:rPr>
              <a:t>Review unusually large predicted cooling effects.</a:t>
            </a:r>
            <a:endParaRPr lang="en-IN" sz="20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34797C-F583-9B3A-E352-70F6628D3210}"/>
              </a:ext>
            </a:extLst>
          </p:cNvPr>
          <p:cNvSpPr/>
          <p:nvPr/>
        </p:nvSpPr>
        <p:spPr>
          <a:xfrm>
            <a:off x="736600" y="4457700"/>
            <a:ext cx="152400" cy="152400"/>
          </a:xfrm>
          <a:prstGeom prst="roundRect">
            <a:avLst/>
          </a:prstGeom>
          <a:solidFill>
            <a:srgbClr val="64A2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E8F11F-6765-0399-CC33-83EA1C4FB9FD}"/>
              </a:ext>
            </a:extLst>
          </p:cNvPr>
          <p:cNvSpPr txBox="1"/>
          <p:nvPr/>
        </p:nvSpPr>
        <p:spPr>
          <a:xfrm>
            <a:off x="1079500" y="4394200"/>
            <a:ext cx="965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>
                <a:solidFill>
                  <a:srgbClr val="404040"/>
                </a:solidFill>
                <a:latin typeface="Calibri" panose="020F0502020204030204" pitchFamily="34" charset="0"/>
              </a:rPr>
              <a:t>Add independent checks and field measurements.</a:t>
            </a:r>
            <a:endParaRPr lang="en-IN" sz="20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66AF0D-F347-5E29-65AF-E1F3089AD007}"/>
              </a:ext>
            </a:extLst>
          </p:cNvPr>
          <p:cNvSpPr/>
          <p:nvPr/>
        </p:nvSpPr>
        <p:spPr>
          <a:xfrm>
            <a:off x="736600" y="5067300"/>
            <a:ext cx="152400" cy="152400"/>
          </a:xfrm>
          <a:prstGeom prst="roundRect">
            <a:avLst/>
          </a:prstGeom>
          <a:solidFill>
            <a:srgbClr val="64A2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033FBC-C91F-6AB4-4EB5-4E108879CB9A}"/>
              </a:ext>
            </a:extLst>
          </p:cNvPr>
          <p:cNvSpPr txBox="1"/>
          <p:nvPr/>
        </p:nvSpPr>
        <p:spPr>
          <a:xfrm>
            <a:off x="1079500" y="5003800"/>
            <a:ext cx="965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>
                <a:solidFill>
                  <a:srgbClr val="404040"/>
                </a:solidFill>
                <a:latin typeface="Calibri" panose="020F0502020204030204" pitchFamily="34" charset="0"/>
              </a:rPr>
              <a:t>Test the workflow in selected wards.</a:t>
            </a:r>
            <a:endParaRPr lang="en-IN" sz="20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DFE21F-8AAD-E1F6-CBA6-01777F770695}"/>
              </a:ext>
            </a:extLst>
          </p:cNvPr>
          <p:cNvSpPr/>
          <p:nvPr/>
        </p:nvSpPr>
        <p:spPr>
          <a:xfrm>
            <a:off x="698500" y="5816600"/>
            <a:ext cx="10414000" cy="381000"/>
          </a:xfrm>
          <a:prstGeom prst="rect">
            <a:avLst/>
          </a:prstGeom>
          <a:solidFill>
            <a:srgbClr val="2D1F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AAA2DC-EB5E-470C-8CB7-5DA4B502D770}"/>
              </a:ext>
            </a:extLst>
          </p:cNvPr>
          <p:cNvSpPr txBox="1"/>
          <p:nvPr/>
        </p:nvSpPr>
        <p:spPr>
          <a:xfrm>
            <a:off x="952500" y="5892800"/>
            <a:ext cx="990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Calibri" panose="020F0502020204030204" pitchFamily="34" charset="0"/>
              </a:rPr>
              <a:t>Next step: choose pilot wards, verify sites, and measure outcomes.</a:t>
            </a:r>
            <a:endParaRPr lang="en-IN" sz="15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784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272</Words>
  <Application>Microsoft Office PowerPoint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christinjosesmg444@gmail.com</dc:creator>
  <cp:lastModifiedBy>christinjosesmg444@gmail.com</cp:lastModifiedBy>
  <cp:revision>4</cp:revision>
  <dcterms:created xsi:type="dcterms:W3CDTF">2026-09-26T02:40:06Z</dcterms:created>
  <dcterms:modified xsi:type="dcterms:W3CDTF">2026-09-26T02:43:54Z</dcterms:modified>
</cp:coreProperties>
</file>